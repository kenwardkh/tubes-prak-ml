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embeddedFontLst>
    <p:embeddedFont>
      <p:font typeface="Inter" panose="020B0604020202020204" charset="0"/>
      <p:regular r:id="rId24"/>
      <p:bold r:id="rId25"/>
      <p:italic r:id="rId26"/>
      <p:boldItalic r:id="rId27"/>
    </p:embeddedFont>
    <p:embeddedFont>
      <p:font typeface="Inter Medium" panose="020B0604020202020204" charset="0"/>
      <p:regular r:id="rId28"/>
      <p:bold r:id="rId29"/>
      <p:italic r:id="rId30"/>
      <p:boldItalic r:id="rId31"/>
    </p:embeddedFont>
    <p:embeddedFont>
      <p:font typeface="Inter SemiBold" panose="020B0604020202020204" charset="0"/>
      <p:regular r:id="rId32"/>
      <p:bold r:id="rId33"/>
      <p:italic r:id="rId34"/>
      <p:boldItalic r:id="rId35"/>
    </p:embeddedFont>
    <p:embeddedFont>
      <p:font typeface="Maven Pro SemiBold" panose="020B0604020202020204" charset="0"/>
      <p:regular r:id="rId36"/>
      <p:bold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jVBftTO1/IoMCDYkIB1G8HNDa0Y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font" Target="fonts/font11.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4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 name="Google Shape;6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Section list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Stopper or section title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 name="Google Shape;7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Stopper or section title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 name="Google Shape;99;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Stopper or section title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ad0efc87e0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2" name="Google Shape;142;g3ad0efc87e0_0_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ad0efc87e0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0" name="Google Shape;150;g3ad0efc87e0_0_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ad0efc87e0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g3ad0efc87e0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ad0efc87e0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3ad0efc87e0_0_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d0efc87e0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g3ad0efc87e0_0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2" name="Google Shape;182;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Stopper or section title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ad0efc87e0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5" name="Google Shape;195;g3ad0efc87e0_0_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2" name="Google Shape;202;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8"/>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8"/>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1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20"/>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0"/>
        <p:cNvGrpSpPr/>
        <p:nvPr/>
      </p:nvGrpSpPr>
      <p:grpSpPr>
        <a:xfrm>
          <a:off x="0" y="0"/>
          <a:ext cx="0" cy="0"/>
          <a:chOff x="0" y="0"/>
          <a:chExt cx="0" cy="0"/>
        </a:xfrm>
      </p:grpSpPr>
      <p:sp>
        <p:nvSpPr>
          <p:cNvPr id="21" name="Google Shape;21;p2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22" name="Google Shape;22;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sp>
        <p:nvSpPr>
          <p:cNvPr id="24" name="Google Shape;24;p2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5" name="Google Shape;25;p22"/>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6" name="Google Shape;26;p22"/>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7" name="Google Shape;27;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2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0" name="Google Shape;30;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
        <p:cNvGrpSpPr/>
        <p:nvPr/>
      </p:nvGrpSpPr>
      <p:grpSpPr>
        <a:xfrm>
          <a:off x="0" y="0"/>
          <a:ext cx="0" cy="0"/>
          <a:chOff x="0" y="0"/>
          <a:chExt cx="0" cy="0"/>
        </a:xfrm>
      </p:grpSpPr>
      <p:sp>
        <p:nvSpPr>
          <p:cNvPr id="32" name="Google Shape;32;p24"/>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3" name="Google Shape;33;p24"/>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4" name="Google Shape;3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25"/>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25"/>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25"/>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25"/>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26"/>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27"/>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7"/>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hyperlink" Target="https://drive.google.com/file/d/1XAyue0kfV4siJiiX1TSUlKnVoKIM1iAq/view?usp=drive_link"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txBox="1">
            <a:spLocks noGrp="1"/>
          </p:cNvSpPr>
          <p:nvPr>
            <p:ph type="ctrTitle"/>
          </p:nvPr>
        </p:nvSpPr>
        <p:spPr>
          <a:xfrm>
            <a:off x="311700" y="1209950"/>
            <a:ext cx="4200600" cy="926400"/>
          </a:xfrm>
          <a:prstGeom prst="rect">
            <a:avLst/>
          </a:prstGeom>
          <a:noFill/>
          <a:ln>
            <a:noFill/>
          </a:ln>
        </p:spPr>
        <p:txBody>
          <a:bodyPr spcFirstLastPara="1" wrap="square" lIns="91425" tIns="91425" rIns="91425" bIns="91425" anchor="ctr" anchorCtr="0">
            <a:noAutofit/>
          </a:bodyPr>
          <a:lstStyle/>
          <a:p>
            <a:pPr marL="0" lvl="0" indent="0" algn="l" rtl="0">
              <a:lnSpc>
                <a:spcPct val="90000"/>
              </a:lnSpc>
              <a:spcBef>
                <a:spcPts val="0"/>
              </a:spcBef>
              <a:spcAft>
                <a:spcPts val="0"/>
              </a:spcAft>
              <a:buSzPts val="990"/>
              <a:buNone/>
            </a:pPr>
            <a:r>
              <a:rPr lang="en" sz="3100">
                <a:solidFill>
                  <a:schemeClr val="dk1"/>
                </a:solidFill>
                <a:latin typeface="Maven Pro SemiBold"/>
                <a:ea typeface="Maven Pro SemiBold"/>
                <a:cs typeface="Maven Pro SemiBold"/>
                <a:sym typeface="Maven Pro SemiBold"/>
              </a:rPr>
              <a:t>Final Project Presentation</a:t>
            </a:r>
            <a:endParaRPr sz="3100">
              <a:solidFill>
                <a:schemeClr val="dk1"/>
              </a:solidFill>
              <a:latin typeface="Maven Pro SemiBold"/>
              <a:ea typeface="Maven Pro SemiBold"/>
              <a:cs typeface="Maven Pro SemiBold"/>
              <a:sym typeface="Maven Pro SemiBold"/>
            </a:endParaRPr>
          </a:p>
        </p:txBody>
      </p:sp>
      <p:sp>
        <p:nvSpPr>
          <p:cNvPr id="55" name="Google Shape;55;p1"/>
          <p:cNvSpPr txBox="1">
            <a:spLocks noGrp="1"/>
          </p:cNvSpPr>
          <p:nvPr>
            <p:ph type="subTitle" idx="1"/>
          </p:nvPr>
        </p:nvSpPr>
        <p:spPr>
          <a:xfrm>
            <a:off x="311700" y="2403875"/>
            <a:ext cx="6189900" cy="16059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 sz="1800" dirty="0">
                <a:solidFill>
                  <a:schemeClr val="dk1"/>
                </a:solidFill>
                <a:latin typeface="Inter SemiBold"/>
                <a:ea typeface="Inter SemiBold"/>
                <a:cs typeface="Inter SemiBold"/>
                <a:sym typeface="Inter SemiBold"/>
              </a:rPr>
              <a:t>Kelompok saran nama kelompok</a:t>
            </a:r>
            <a:endParaRPr sz="1800" dirty="0">
              <a:solidFill>
                <a:schemeClr val="dk1"/>
              </a:solidFill>
              <a:latin typeface="Inter SemiBold"/>
              <a:ea typeface="Inter SemiBold"/>
              <a:cs typeface="Inter SemiBold"/>
              <a:sym typeface="Inter SemiBold"/>
            </a:endParaRPr>
          </a:p>
          <a:p>
            <a:pPr marL="0" lvl="0" indent="0" algn="l" rtl="0">
              <a:lnSpc>
                <a:spcPct val="100000"/>
              </a:lnSpc>
              <a:spcBef>
                <a:spcPts val="0"/>
              </a:spcBef>
              <a:spcAft>
                <a:spcPts val="0"/>
              </a:spcAft>
              <a:buSzPts val="2800"/>
              <a:buNone/>
            </a:pPr>
            <a:r>
              <a:rPr lang="en" sz="1800" dirty="0">
                <a:solidFill>
                  <a:schemeClr val="dk1"/>
                </a:solidFill>
                <a:latin typeface="Inter SemiBold"/>
                <a:ea typeface="Inter SemiBold"/>
                <a:cs typeface="Inter SemiBold"/>
                <a:sym typeface="Inter SemiBold"/>
              </a:rPr>
              <a:t>Nama:</a:t>
            </a:r>
            <a:endParaRPr sz="1800" dirty="0">
              <a:solidFill>
                <a:schemeClr val="dk1"/>
              </a:solidFill>
              <a:latin typeface="Inter SemiBold"/>
              <a:ea typeface="Inter SemiBold"/>
              <a:cs typeface="Inter SemiBold"/>
              <a:sym typeface="Inter SemiBold"/>
            </a:endParaRPr>
          </a:p>
          <a:p>
            <a:pPr marL="742950" lvl="0" indent="-285750" algn="l" rtl="0">
              <a:spcBef>
                <a:spcPts val="0"/>
              </a:spcBef>
              <a:spcAft>
                <a:spcPts val="0"/>
              </a:spcAft>
              <a:buClr>
                <a:schemeClr val="dk1"/>
              </a:buClr>
              <a:buSzPts val="1100"/>
              <a:buFont typeface="Arial" panose="020B0604020202020204" pitchFamily="34" charset="0"/>
              <a:buChar char="•"/>
            </a:pPr>
            <a:r>
              <a:rPr lang="en" sz="1800" dirty="0">
                <a:solidFill>
                  <a:schemeClr val="dk1"/>
                </a:solidFill>
                <a:latin typeface="Inter SemiBold"/>
                <a:ea typeface="Inter SemiBold"/>
                <a:cs typeface="Inter SemiBold"/>
                <a:sym typeface="Inter SemiBold"/>
              </a:rPr>
              <a:t>Ari Gamaliel Manohan Silitonga	(231402030)</a:t>
            </a:r>
          </a:p>
          <a:p>
            <a:pPr marL="742950" lvl="0" indent="-285750" algn="l" rtl="0">
              <a:spcBef>
                <a:spcPts val="0"/>
              </a:spcBef>
              <a:spcAft>
                <a:spcPts val="0"/>
              </a:spcAft>
              <a:buClr>
                <a:schemeClr val="dk1"/>
              </a:buClr>
              <a:buSzPts val="1100"/>
              <a:buFont typeface="Arial" panose="020B0604020202020204" pitchFamily="34" charset="0"/>
              <a:buChar char="•"/>
            </a:pPr>
            <a:r>
              <a:rPr lang="en" sz="1800" dirty="0">
                <a:solidFill>
                  <a:schemeClr val="dk1"/>
                </a:solidFill>
                <a:latin typeface="Inter SemiBold"/>
                <a:ea typeface="Inter SemiBold"/>
                <a:cs typeface="Inter SemiBold"/>
                <a:sym typeface="Inter SemiBold"/>
              </a:rPr>
              <a:t>Ikhsan Shah Pohan 		(231402039)</a:t>
            </a:r>
          </a:p>
          <a:p>
            <a:pPr marL="742950" lvl="0" indent="-285750" algn="l" rtl="0">
              <a:spcBef>
                <a:spcPts val="0"/>
              </a:spcBef>
              <a:spcAft>
                <a:spcPts val="0"/>
              </a:spcAft>
              <a:buClr>
                <a:schemeClr val="dk1"/>
              </a:buClr>
              <a:buSzPts val="1100"/>
              <a:buFont typeface="Arial" panose="020B0604020202020204" pitchFamily="34" charset="0"/>
              <a:buChar char="•"/>
            </a:pPr>
            <a:r>
              <a:rPr lang="en" sz="1800" dirty="0">
                <a:solidFill>
                  <a:schemeClr val="dk1"/>
                </a:solidFill>
                <a:latin typeface="Inter SemiBold"/>
                <a:ea typeface="Inter SemiBold"/>
                <a:cs typeface="Inter SemiBold"/>
                <a:sym typeface="Inter SemiBold"/>
              </a:rPr>
              <a:t>Kenward Keene  Hermanto		(231402081)</a:t>
            </a:r>
          </a:p>
          <a:p>
            <a:pPr marL="742950" lvl="0" indent="-285750" algn="l" rtl="0">
              <a:spcBef>
                <a:spcPts val="0"/>
              </a:spcBef>
              <a:spcAft>
                <a:spcPts val="0"/>
              </a:spcAft>
              <a:buClr>
                <a:schemeClr val="dk1"/>
              </a:buClr>
              <a:buSzPts val="1100"/>
              <a:buFont typeface="Arial" panose="020B0604020202020204" pitchFamily="34" charset="0"/>
              <a:buChar char="•"/>
            </a:pPr>
            <a:r>
              <a:rPr lang="en" sz="1800" dirty="0">
                <a:solidFill>
                  <a:schemeClr val="dk1"/>
                </a:solidFill>
                <a:latin typeface="Inter SemiBold"/>
                <a:ea typeface="Inter SemiBold"/>
                <a:cs typeface="Inter SemiBold"/>
                <a:sym typeface="Inter SemiBold"/>
              </a:rPr>
              <a:t>Muhammad Niki Ramandika 	(231402097)</a:t>
            </a:r>
            <a:endParaRPr sz="1800" dirty="0">
              <a:solidFill>
                <a:schemeClr val="dk1"/>
              </a:solidFill>
              <a:latin typeface="Inter SemiBold"/>
              <a:ea typeface="Inter SemiBold"/>
              <a:cs typeface="Inter SemiBold"/>
              <a:sym typeface="Inter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Shape 59"/>
        <p:cNvGrpSpPr/>
        <p:nvPr/>
      </p:nvGrpSpPr>
      <p:grpSpPr>
        <a:xfrm>
          <a:off x="0" y="0"/>
          <a:ext cx="0" cy="0"/>
          <a:chOff x="0" y="0"/>
          <a:chExt cx="0" cy="0"/>
        </a:xfrm>
      </p:grpSpPr>
      <p:sp>
        <p:nvSpPr>
          <p:cNvPr id="60" name="Google Shape;60;p2"/>
          <p:cNvSpPr txBox="1">
            <a:spLocks noGrp="1"/>
          </p:cNvSpPr>
          <p:nvPr>
            <p:ph type="body" idx="1"/>
          </p:nvPr>
        </p:nvSpPr>
        <p:spPr>
          <a:xfrm>
            <a:off x="311700" y="1744750"/>
            <a:ext cx="7853400" cy="2924400"/>
          </a:xfrm>
          <a:prstGeom prst="rect">
            <a:avLst/>
          </a:prstGeom>
          <a:noFill/>
          <a:ln>
            <a:noFill/>
          </a:ln>
        </p:spPr>
        <p:txBody>
          <a:bodyPr spcFirstLastPara="1" wrap="square" lIns="91425" tIns="91425" rIns="91425" bIns="91425" anchor="t" anchorCtr="0">
            <a:noAutofit/>
          </a:bodyPr>
          <a:lstStyle/>
          <a:p>
            <a:pPr marL="457200" lvl="0" indent="-323850" algn="l" rtl="0">
              <a:lnSpc>
                <a:spcPct val="115000"/>
              </a:lnSpc>
              <a:spcBef>
                <a:spcPts val="0"/>
              </a:spcBef>
              <a:spcAft>
                <a:spcPts val="0"/>
              </a:spcAft>
              <a:buClr>
                <a:srgbClr val="282828"/>
              </a:buClr>
              <a:buSzPts val="1500"/>
              <a:buFont typeface="Inter"/>
              <a:buChar char="-"/>
            </a:pPr>
            <a:r>
              <a:rPr lang="en" sz="1500">
                <a:solidFill>
                  <a:srgbClr val="282828"/>
                </a:solidFill>
                <a:latin typeface="Inter"/>
                <a:ea typeface="Inter"/>
                <a:cs typeface="Inter"/>
                <a:sym typeface="Inter"/>
              </a:rPr>
              <a:t>Waktu presentasi adalah 5 menit (tentatif, tergantung dari banyaknya kelompok yang mendaftarkan diri)</a:t>
            </a:r>
            <a:endParaRPr sz="1500">
              <a:solidFill>
                <a:srgbClr val="282828"/>
              </a:solidFill>
              <a:latin typeface="Inter"/>
              <a:ea typeface="Inter"/>
              <a:cs typeface="Inter"/>
              <a:sym typeface="Inter"/>
            </a:endParaRPr>
          </a:p>
          <a:p>
            <a:pPr marL="457200" lvl="0" indent="-323850" algn="l" rtl="0">
              <a:lnSpc>
                <a:spcPct val="115000"/>
              </a:lnSpc>
              <a:spcBef>
                <a:spcPts val="0"/>
              </a:spcBef>
              <a:spcAft>
                <a:spcPts val="0"/>
              </a:spcAft>
              <a:buClr>
                <a:srgbClr val="282828"/>
              </a:buClr>
              <a:buSzPts val="1500"/>
              <a:buFont typeface="Inter"/>
              <a:buChar char="-"/>
            </a:pPr>
            <a:r>
              <a:rPr lang="en" sz="1500">
                <a:solidFill>
                  <a:srgbClr val="282828"/>
                </a:solidFill>
                <a:latin typeface="Inter"/>
                <a:ea typeface="Inter"/>
                <a:cs typeface="Inter"/>
                <a:sym typeface="Inter"/>
              </a:rPr>
              <a:t>Waktu tanya jawab adalah 5 menit</a:t>
            </a:r>
            <a:endParaRPr sz="1500">
              <a:solidFill>
                <a:srgbClr val="282828"/>
              </a:solidFill>
              <a:latin typeface="Inter"/>
              <a:ea typeface="Inter"/>
              <a:cs typeface="Inter"/>
              <a:sym typeface="Inter"/>
            </a:endParaRPr>
          </a:p>
          <a:p>
            <a:pPr marL="457200" lvl="0" indent="-323850" algn="l" rtl="0">
              <a:lnSpc>
                <a:spcPct val="115000"/>
              </a:lnSpc>
              <a:spcBef>
                <a:spcPts val="0"/>
              </a:spcBef>
              <a:spcAft>
                <a:spcPts val="0"/>
              </a:spcAft>
              <a:buClr>
                <a:srgbClr val="282828"/>
              </a:buClr>
              <a:buSzPts val="1500"/>
              <a:buFont typeface="Inter"/>
              <a:buChar char="-"/>
            </a:pPr>
            <a:r>
              <a:rPr lang="en" sz="1500">
                <a:solidFill>
                  <a:srgbClr val="282828"/>
                </a:solidFill>
                <a:latin typeface="Inter"/>
                <a:ea typeface="Inter"/>
                <a:cs typeface="Inter"/>
                <a:sym typeface="Inter"/>
              </a:rPr>
              <a:t>Silakan menambahkan gambar/visualisasi pada slide presentasi</a:t>
            </a:r>
            <a:endParaRPr sz="1500">
              <a:solidFill>
                <a:srgbClr val="282828"/>
              </a:solidFill>
              <a:latin typeface="Inter"/>
              <a:ea typeface="Inter"/>
              <a:cs typeface="Inter"/>
              <a:sym typeface="Inter"/>
            </a:endParaRPr>
          </a:p>
          <a:p>
            <a:pPr marL="457200" lvl="0" indent="-323850" algn="l" rtl="0">
              <a:lnSpc>
                <a:spcPct val="115000"/>
              </a:lnSpc>
              <a:spcBef>
                <a:spcPts val="0"/>
              </a:spcBef>
              <a:spcAft>
                <a:spcPts val="0"/>
              </a:spcAft>
              <a:buClr>
                <a:srgbClr val="282828"/>
              </a:buClr>
              <a:buSzPts val="1500"/>
              <a:buFont typeface="Inter"/>
              <a:buChar char="-"/>
            </a:pPr>
            <a:r>
              <a:rPr lang="en" sz="1500">
                <a:solidFill>
                  <a:srgbClr val="282828"/>
                </a:solidFill>
                <a:latin typeface="Inter"/>
                <a:ea typeface="Inter"/>
                <a:cs typeface="Inter"/>
                <a:sym typeface="Inter"/>
              </a:rPr>
              <a:t>Upayakan agar tetap dalam format poin-poin (ingat, ini presentasi, bukan esai)</a:t>
            </a:r>
            <a:endParaRPr sz="1500">
              <a:solidFill>
                <a:srgbClr val="282828"/>
              </a:solidFill>
              <a:latin typeface="Inter"/>
              <a:ea typeface="Inter"/>
              <a:cs typeface="Inter"/>
              <a:sym typeface="Inter"/>
            </a:endParaRPr>
          </a:p>
          <a:p>
            <a:pPr marL="457200" lvl="0" indent="-323850" algn="l" rtl="0">
              <a:lnSpc>
                <a:spcPct val="115000"/>
              </a:lnSpc>
              <a:spcBef>
                <a:spcPts val="0"/>
              </a:spcBef>
              <a:spcAft>
                <a:spcPts val="0"/>
              </a:spcAft>
              <a:buClr>
                <a:srgbClr val="282828"/>
              </a:buClr>
              <a:buSzPts val="1500"/>
              <a:buFont typeface="Inter"/>
              <a:buChar char="-"/>
            </a:pPr>
            <a:r>
              <a:rPr lang="en" sz="1500">
                <a:solidFill>
                  <a:srgbClr val="282828"/>
                </a:solidFill>
                <a:latin typeface="Inter"/>
                <a:ea typeface="Inter"/>
                <a:cs typeface="Inter"/>
                <a:sym typeface="Inter"/>
              </a:rPr>
              <a:t>Jangan masukkan </a:t>
            </a:r>
            <a:r>
              <a:rPr lang="en" sz="1500" i="1">
                <a:solidFill>
                  <a:srgbClr val="282828"/>
                </a:solidFill>
                <a:latin typeface="Inter"/>
                <a:ea typeface="Inter"/>
                <a:cs typeface="Inter"/>
                <a:sym typeface="Inter"/>
              </a:rPr>
              <a:t>code</a:t>
            </a:r>
            <a:r>
              <a:rPr lang="en" sz="1500">
                <a:solidFill>
                  <a:srgbClr val="282828"/>
                </a:solidFill>
                <a:latin typeface="Inter"/>
                <a:ea typeface="Inter"/>
                <a:cs typeface="Inter"/>
                <a:sym typeface="Inter"/>
              </a:rPr>
              <a:t> ke dalam slide presentasi (tidak usah memasukan screenshot jupyter notebook)</a:t>
            </a:r>
            <a:endParaRPr sz="1500">
              <a:solidFill>
                <a:srgbClr val="282828"/>
              </a:solidFill>
              <a:latin typeface="Inter"/>
              <a:ea typeface="Inter"/>
              <a:cs typeface="Inter"/>
              <a:sym typeface="Inter"/>
            </a:endParaRPr>
          </a:p>
        </p:txBody>
      </p:sp>
      <p:sp>
        <p:nvSpPr>
          <p:cNvPr id="61" name="Google Shape;61;p2"/>
          <p:cNvSpPr txBox="1"/>
          <p:nvPr/>
        </p:nvSpPr>
        <p:spPr>
          <a:xfrm>
            <a:off x="76197" y="87997"/>
            <a:ext cx="60819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000" b="1" i="0" u="none" strike="noStrike" cap="none">
                <a:solidFill>
                  <a:schemeClr val="dk1"/>
                </a:solidFill>
                <a:latin typeface="Inter"/>
                <a:ea typeface="Inter"/>
                <a:cs typeface="Inter"/>
                <a:sym typeface="Inter"/>
              </a:rPr>
              <a:t>Latar Belakang</a:t>
            </a:r>
            <a:endParaRPr sz="1000" b="1" i="0" u="none" strike="noStrike" cap="none">
              <a:solidFill>
                <a:schemeClr val="dk1"/>
              </a:solidFill>
              <a:latin typeface="Inter"/>
              <a:ea typeface="Inter"/>
              <a:cs typeface="Inter"/>
              <a:sym typeface="Inter"/>
            </a:endParaRPr>
          </a:p>
        </p:txBody>
      </p:sp>
      <p:sp>
        <p:nvSpPr>
          <p:cNvPr id="62" name="Google Shape;62;p2"/>
          <p:cNvSpPr txBox="1">
            <a:spLocks noGrp="1"/>
          </p:cNvSpPr>
          <p:nvPr>
            <p:ph type="title"/>
          </p:nvPr>
        </p:nvSpPr>
        <p:spPr>
          <a:xfrm>
            <a:off x="311700" y="673625"/>
            <a:ext cx="8480400" cy="8193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990"/>
              <a:buNone/>
            </a:pPr>
            <a:r>
              <a:rPr lang="en" sz="2820">
                <a:solidFill>
                  <a:schemeClr val="dk1"/>
                </a:solidFill>
                <a:latin typeface="Maven Pro SemiBold"/>
                <a:ea typeface="Maven Pro SemiBold"/>
                <a:cs typeface="Maven Pro SemiBold"/>
                <a:sym typeface="Maven Pro SemiBold"/>
              </a:rPr>
              <a:t>Petunjuk</a:t>
            </a:r>
            <a:endParaRPr sz="2820">
              <a:solidFill>
                <a:schemeClr val="dk1"/>
              </a:solidFill>
              <a:latin typeface="Maven Pro SemiBold"/>
              <a:ea typeface="Maven Pro SemiBold"/>
              <a:cs typeface="Maven Pro SemiBold"/>
              <a:sym typeface="Maven Pro Semi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3"/>
          <p:cNvSpPr txBox="1">
            <a:spLocks noGrp="1"/>
          </p:cNvSpPr>
          <p:nvPr>
            <p:ph type="title"/>
          </p:nvPr>
        </p:nvSpPr>
        <p:spPr>
          <a:xfrm>
            <a:off x="517750" y="1101600"/>
            <a:ext cx="6253800" cy="2940300"/>
          </a:xfrm>
          <a:prstGeom prst="rect">
            <a:avLst/>
          </a:prstGeom>
          <a:noFill/>
          <a:ln>
            <a:noFill/>
          </a:ln>
        </p:spPr>
        <p:txBody>
          <a:bodyPr spcFirstLastPara="1" wrap="square" lIns="91425" tIns="91425" rIns="91425" bIns="91425" anchor="ctr" anchorCtr="0">
            <a:normAutofit/>
          </a:bodyPr>
          <a:lstStyle/>
          <a:p>
            <a:pPr marL="457200" lvl="0" indent="-381000" algn="l" rtl="0">
              <a:lnSpc>
                <a:spcPct val="150000"/>
              </a:lnSpc>
              <a:spcBef>
                <a:spcPts val="0"/>
              </a:spcBef>
              <a:spcAft>
                <a:spcPts val="0"/>
              </a:spcAft>
              <a:buClr>
                <a:srgbClr val="282828"/>
              </a:buClr>
              <a:buSzPts val="2400"/>
              <a:buFont typeface="Maven Pro SemiBold"/>
              <a:buAutoNum type="arabicPeriod"/>
            </a:pPr>
            <a:r>
              <a:rPr lang="en" sz="2400">
                <a:solidFill>
                  <a:srgbClr val="282828"/>
                </a:solidFill>
                <a:latin typeface="Maven Pro SemiBold"/>
                <a:ea typeface="Maven Pro SemiBold"/>
                <a:cs typeface="Maven Pro SemiBold"/>
                <a:sym typeface="Maven Pro SemiBold"/>
              </a:rPr>
              <a:t>Latar Belakang</a:t>
            </a:r>
            <a:endParaRPr sz="2400">
              <a:solidFill>
                <a:srgbClr val="282828"/>
              </a:solidFill>
              <a:latin typeface="Maven Pro SemiBold"/>
              <a:ea typeface="Maven Pro SemiBold"/>
              <a:cs typeface="Maven Pro SemiBold"/>
              <a:sym typeface="Maven Pro SemiBold"/>
            </a:endParaRPr>
          </a:p>
          <a:p>
            <a:pPr marL="457200" lvl="0" indent="-381000" algn="l" rtl="0">
              <a:lnSpc>
                <a:spcPct val="150000"/>
              </a:lnSpc>
              <a:spcBef>
                <a:spcPts val="0"/>
              </a:spcBef>
              <a:spcAft>
                <a:spcPts val="0"/>
              </a:spcAft>
              <a:buClr>
                <a:srgbClr val="282828"/>
              </a:buClr>
              <a:buSzPts val="2400"/>
              <a:buFont typeface="Maven Pro SemiBold"/>
              <a:buAutoNum type="arabicPeriod"/>
            </a:pPr>
            <a:r>
              <a:rPr lang="en" sz="2400">
                <a:solidFill>
                  <a:srgbClr val="282828"/>
                </a:solidFill>
                <a:latin typeface="Maven Pro SemiBold"/>
                <a:ea typeface="Maven Pro SemiBold"/>
                <a:cs typeface="Maven Pro SemiBold"/>
                <a:sym typeface="Maven Pro SemiBold"/>
              </a:rPr>
              <a:t>Explorasi Data dan Visualisasi</a:t>
            </a:r>
            <a:endParaRPr sz="2400">
              <a:solidFill>
                <a:srgbClr val="282828"/>
              </a:solidFill>
              <a:latin typeface="Maven Pro SemiBold"/>
              <a:ea typeface="Maven Pro SemiBold"/>
              <a:cs typeface="Maven Pro SemiBold"/>
              <a:sym typeface="Maven Pro SemiBold"/>
            </a:endParaRPr>
          </a:p>
          <a:p>
            <a:pPr marL="457200" lvl="0" indent="-381000" algn="l" rtl="0">
              <a:lnSpc>
                <a:spcPct val="150000"/>
              </a:lnSpc>
              <a:spcBef>
                <a:spcPts val="0"/>
              </a:spcBef>
              <a:spcAft>
                <a:spcPts val="0"/>
              </a:spcAft>
              <a:buClr>
                <a:srgbClr val="282828"/>
              </a:buClr>
              <a:buSzPts val="2400"/>
              <a:buFont typeface="Maven Pro SemiBold"/>
              <a:buAutoNum type="arabicPeriod"/>
            </a:pPr>
            <a:r>
              <a:rPr lang="en" sz="2400">
                <a:solidFill>
                  <a:srgbClr val="282828"/>
                </a:solidFill>
                <a:latin typeface="Maven Pro SemiBold"/>
                <a:ea typeface="Maven Pro SemiBold"/>
                <a:cs typeface="Maven Pro SemiBold"/>
                <a:sym typeface="Maven Pro SemiBold"/>
              </a:rPr>
              <a:t>Modelling</a:t>
            </a:r>
            <a:endParaRPr sz="2400">
              <a:solidFill>
                <a:srgbClr val="282828"/>
              </a:solidFill>
              <a:latin typeface="Maven Pro SemiBold"/>
              <a:ea typeface="Maven Pro SemiBold"/>
              <a:cs typeface="Maven Pro SemiBold"/>
              <a:sym typeface="Maven Pro SemiBold"/>
            </a:endParaRPr>
          </a:p>
          <a:p>
            <a:pPr marL="457200" lvl="0" indent="-381000" algn="l" rtl="0">
              <a:lnSpc>
                <a:spcPct val="150000"/>
              </a:lnSpc>
              <a:spcBef>
                <a:spcPts val="0"/>
              </a:spcBef>
              <a:spcAft>
                <a:spcPts val="0"/>
              </a:spcAft>
              <a:buClr>
                <a:srgbClr val="282828"/>
              </a:buClr>
              <a:buSzPts val="2400"/>
              <a:buFont typeface="Maven Pro SemiBold"/>
              <a:buAutoNum type="arabicPeriod"/>
            </a:pPr>
            <a:r>
              <a:rPr lang="en" sz="2400">
                <a:solidFill>
                  <a:srgbClr val="282828"/>
                </a:solidFill>
                <a:latin typeface="Maven Pro SemiBold"/>
                <a:ea typeface="Maven Pro SemiBold"/>
                <a:cs typeface="Maven Pro SemiBold"/>
                <a:sym typeface="Maven Pro SemiBold"/>
              </a:rPr>
              <a:t>Kesimpulan</a:t>
            </a:r>
            <a:endParaRPr sz="2400">
              <a:solidFill>
                <a:srgbClr val="282828"/>
              </a:solidFill>
              <a:latin typeface="Maven Pro SemiBold"/>
              <a:ea typeface="Maven Pro SemiBold"/>
              <a:cs typeface="Maven Pro SemiBold"/>
              <a:sym typeface="Maven Pro SemiBold"/>
            </a:endParaRPr>
          </a:p>
        </p:txBody>
      </p:sp>
      <p:sp>
        <p:nvSpPr>
          <p:cNvPr id="68" name="Google Shape;68;p3"/>
          <p:cNvSpPr txBox="1"/>
          <p:nvPr/>
        </p:nvSpPr>
        <p:spPr>
          <a:xfrm>
            <a:off x="76197" y="87997"/>
            <a:ext cx="60819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chemeClr val="dk1"/>
                </a:solidFill>
                <a:latin typeface="Inter"/>
                <a:ea typeface="Inter"/>
                <a:cs typeface="Inter"/>
                <a:sym typeface="Inter"/>
              </a:rPr>
              <a:t>Daftar</a:t>
            </a:r>
            <a:r>
              <a:rPr lang="en" sz="1000" b="1" i="0" u="none" strike="noStrike" cap="none">
                <a:solidFill>
                  <a:srgbClr val="601F99"/>
                </a:solidFill>
                <a:latin typeface="Inter"/>
                <a:ea typeface="Inter"/>
                <a:cs typeface="Inter"/>
                <a:sym typeface="Inter"/>
              </a:rPr>
              <a:t> </a:t>
            </a:r>
            <a:r>
              <a:rPr lang="en" sz="1000" b="1" i="0" u="none" strike="noStrike" cap="none">
                <a:solidFill>
                  <a:schemeClr val="dk1"/>
                </a:solidFill>
                <a:latin typeface="Inter"/>
                <a:ea typeface="Inter"/>
                <a:cs typeface="Inter"/>
                <a:sym typeface="Inter"/>
              </a:rPr>
              <a:t>Isi</a:t>
            </a:r>
            <a:endParaRPr sz="1000" b="1" i="0" u="none" strike="noStrike" cap="none">
              <a:solidFill>
                <a:schemeClr val="dk1"/>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4"/>
          <p:cNvSpPr txBox="1">
            <a:spLocks noGrp="1"/>
          </p:cNvSpPr>
          <p:nvPr>
            <p:ph type="title"/>
          </p:nvPr>
        </p:nvSpPr>
        <p:spPr>
          <a:xfrm>
            <a:off x="537425" y="2015400"/>
            <a:ext cx="5455500" cy="8160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600">
                <a:solidFill>
                  <a:schemeClr val="dk1"/>
                </a:solidFill>
                <a:latin typeface="Maven Pro SemiBold"/>
                <a:ea typeface="Maven Pro SemiBold"/>
                <a:cs typeface="Maven Pro SemiBold"/>
                <a:sym typeface="Maven Pro SemiBold"/>
              </a:rPr>
              <a:t>Latar Belakang</a:t>
            </a:r>
            <a:endParaRPr sz="3600">
              <a:solidFill>
                <a:schemeClr val="dk1"/>
              </a:solidFill>
              <a:latin typeface="Maven Pro SemiBold"/>
              <a:ea typeface="Maven Pro SemiBold"/>
              <a:cs typeface="Maven Pro SemiBold"/>
              <a:sym typeface="Maven Pro SemiBold"/>
            </a:endParaRPr>
          </a:p>
        </p:txBody>
      </p:sp>
      <p:sp>
        <p:nvSpPr>
          <p:cNvPr id="74" name="Google Shape;74;p4"/>
          <p:cNvSpPr txBox="1"/>
          <p:nvPr/>
        </p:nvSpPr>
        <p:spPr>
          <a:xfrm>
            <a:off x="124200" y="6665"/>
            <a:ext cx="6081900" cy="307909"/>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chemeClr val="dk1"/>
                </a:solidFill>
                <a:latin typeface="Inter"/>
                <a:ea typeface="Inter"/>
                <a:cs typeface="Inter"/>
                <a:sym typeface="Inter"/>
              </a:rPr>
              <a:t>Pendahuluan</a:t>
            </a:r>
            <a:endParaRPr sz="1000" b="1" i="0" u="none" strike="noStrike" cap="none">
              <a:solidFill>
                <a:schemeClr val="dk1"/>
              </a:solidFill>
              <a:latin typeface="Inter"/>
              <a:ea typeface="Inter"/>
              <a:cs typeface="Inter"/>
              <a:sym typeface="Inter"/>
            </a:endParaRPr>
          </a:p>
        </p:txBody>
      </p:sp>
      <p:sp>
        <p:nvSpPr>
          <p:cNvPr id="75" name="Google Shape;75;p4"/>
          <p:cNvSpPr txBox="1"/>
          <p:nvPr/>
        </p:nvSpPr>
        <p:spPr>
          <a:xfrm>
            <a:off x="537425" y="3240750"/>
            <a:ext cx="3705000" cy="714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600"/>
              <a:buFont typeface="Arial"/>
              <a:buNone/>
            </a:pPr>
            <a:endParaRPr sz="1600" b="0" i="0" u="none" strike="noStrike" cap="none">
              <a:solidFill>
                <a:schemeClr val="dk1"/>
              </a:solidFill>
              <a:latin typeface="Inter Medium"/>
              <a:ea typeface="Inter Medium"/>
              <a:cs typeface="Inter Medium"/>
              <a:sym typeface="Inter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5"/>
          <p:cNvSpPr txBox="1">
            <a:spLocks noGrp="1"/>
          </p:cNvSpPr>
          <p:nvPr>
            <p:ph type="body" idx="1"/>
          </p:nvPr>
        </p:nvSpPr>
        <p:spPr>
          <a:xfrm>
            <a:off x="311700" y="1744750"/>
            <a:ext cx="6591000" cy="2924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b="1">
                <a:solidFill>
                  <a:srgbClr val="282828"/>
                </a:solidFill>
                <a:latin typeface="Times New Roman"/>
                <a:ea typeface="Times New Roman"/>
                <a:cs typeface="Times New Roman"/>
                <a:sym typeface="Times New Roman"/>
              </a:rPr>
              <a:t>Sumber Data</a:t>
            </a:r>
            <a:r>
              <a:rPr lang="en">
                <a:solidFill>
                  <a:srgbClr val="282828"/>
                </a:solidFill>
                <a:latin typeface="Times New Roman"/>
                <a:ea typeface="Times New Roman"/>
                <a:cs typeface="Times New Roman"/>
                <a:sym typeface="Times New Roman"/>
              </a:rPr>
              <a:t>: </a:t>
            </a:r>
            <a:r>
              <a:rPr lang="en" u="sng">
                <a:solidFill>
                  <a:schemeClr val="hlink"/>
                </a:solidFill>
                <a:latin typeface="Times New Roman"/>
                <a:ea typeface="Times New Roman"/>
                <a:cs typeface="Times New Roman"/>
                <a:sym typeface="Times New Roman"/>
                <a:hlinkClick r:id="rId3"/>
              </a:rPr>
              <a:t>Medical Insurance Cost Prediction</a:t>
            </a:r>
            <a:endParaRPr>
              <a:solidFill>
                <a:srgbClr val="282828"/>
              </a:solidFill>
              <a:latin typeface="Times New Roman"/>
              <a:ea typeface="Times New Roman"/>
              <a:cs typeface="Times New Roman"/>
              <a:sym typeface="Times New Roman"/>
            </a:endParaRPr>
          </a:p>
          <a:p>
            <a:pPr marL="0" lvl="0" indent="0" algn="l" rtl="0">
              <a:lnSpc>
                <a:spcPct val="115000"/>
              </a:lnSpc>
              <a:spcBef>
                <a:spcPts val="1000"/>
              </a:spcBef>
              <a:spcAft>
                <a:spcPts val="0"/>
              </a:spcAft>
              <a:buSzPts val="1800"/>
              <a:buNone/>
            </a:pPr>
            <a:r>
              <a:rPr lang="en" b="1">
                <a:solidFill>
                  <a:srgbClr val="282828"/>
                </a:solidFill>
                <a:latin typeface="Times New Roman"/>
                <a:ea typeface="Times New Roman"/>
                <a:cs typeface="Times New Roman"/>
                <a:sym typeface="Times New Roman"/>
              </a:rPr>
              <a:t>Problem</a:t>
            </a:r>
            <a:r>
              <a:rPr lang="en">
                <a:solidFill>
                  <a:srgbClr val="282828"/>
                </a:solidFill>
                <a:latin typeface="Times New Roman"/>
                <a:ea typeface="Times New Roman"/>
                <a:cs typeface="Times New Roman"/>
                <a:sym typeface="Times New Roman"/>
              </a:rPr>
              <a:t>: </a:t>
            </a:r>
            <a:r>
              <a:rPr lang="en" b="1">
                <a:solidFill>
                  <a:srgbClr val="282828"/>
                </a:solidFill>
                <a:latin typeface="Times New Roman"/>
                <a:ea typeface="Times New Roman"/>
                <a:cs typeface="Times New Roman"/>
                <a:sym typeface="Times New Roman"/>
              </a:rPr>
              <a:t>regression </a:t>
            </a:r>
            <a:endParaRPr>
              <a:solidFill>
                <a:srgbClr val="282828"/>
              </a:solidFill>
              <a:latin typeface="Times New Roman"/>
              <a:ea typeface="Times New Roman"/>
              <a:cs typeface="Times New Roman"/>
              <a:sym typeface="Times New Roman"/>
            </a:endParaRPr>
          </a:p>
          <a:p>
            <a:pPr marL="0" lvl="0" indent="0" algn="l" rtl="0">
              <a:lnSpc>
                <a:spcPct val="115000"/>
              </a:lnSpc>
              <a:spcBef>
                <a:spcPts val="1000"/>
              </a:spcBef>
              <a:spcAft>
                <a:spcPts val="0"/>
              </a:spcAft>
              <a:buSzPts val="1800"/>
              <a:buNone/>
            </a:pPr>
            <a:r>
              <a:rPr lang="en" b="1">
                <a:solidFill>
                  <a:srgbClr val="282828"/>
                </a:solidFill>
                <a:latin typeface="Times New Roman"/>
                <a:ea typeface="Times New Roman"/>
                <a:cs typeface="Times New Roman"/>
                <a:sym typeface="Times New Roman"/>
              </a:rPr>
              <a:t>Tujuan</a:t>
            </a:r>
            <a:r>
              <a:rPr lang="en">
                <a:solidFill>
                  <a:srgbClr val="282828"/>
                </a:solidFill>
                <a:latin typeface="Times New Roman"/>
                <a:ea typeface="Times New Roman"/>
                <a:cs typeface="Times New Roman"/>
                <a:sym typeface="Times New Roman"/>
              </a:rPr>
              <a:t>: </a:t>
            </a:r>
            <a:endParaRPr>
              <a:solidFill>
                <a:srgbClr val="282828"/>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rgbClr val="282828"/>
              </a:buClr>
              <a:buSzPts val="1800"/>
              <a:buFont typeface="Times New Roman"/>
              <a:buChar char="-"/>
            </a:pPr>
            <a:r>
              <a:rPr lang="en">
                <a:solidFill>
                  <a:srgbClr val="282828"/>
                </a:solidFill>
                <a:latin typeface="Times New Roman"/>
                <a:ea typeface="Times New Roman"/>
                <a:cs typeface="Times New Roman"/>
                <a:sym typeface="Times New Roman"/>
              </a:rPr>
              <a:t>Memprediksi biaya asuransi kesehatan seseorang berdasarkan faktor-faktor seperti usia, BMI (berat badan), apakah dia perokok atau tidak, jumlah anak, sama lokasi tinggalnya</a:t>
            </a:r>
            <a:endParaRPr>
              <a:solidFill>
                <a:srgbClr val="282828"/>
              </a:solidFill>
              <a:latin typeface="Times New Roman"/>
              <a:ea typeface="Times New Roman"/>
              <a:cs typeface="Times New Roman"/>
              <a:sym typeface="Times New Roman"/>
            </a:endParaRPr>
          </a:p>
          <a:p>
            <a:pPr marL="0" lvl="0" indent="0" algn="l" rtl="0">
              <a:lnSpc>
                <a:spcPct val="115000"/>
              </a:lnSpc>
              <a:spcBef>
                <a:spcPts val="1000"/>
              </a:spcBef>
              <a:spcAft>
                <a:spcPts val="1000"/>
              </a:spcAft>
              <a:buSzPts val="1800"/>
              <a:buNone/>
            </a:pPr>
            <a:endParaRPr>
              <a:solidFill>
                <a:srgbClr val="282828"/>
              </a:solidFill>
              <a:latin typeface="Times New Roman"/>
              <a:ea typeface="Times New Roman"/>
              <a:cs typeface="Times New Roman"/>
              <a:sym typeface="Times New Roman"/>
            </a:endParaRPr>
          </a:p>
        </p:txBody>
      </p:sp>
      <p:sp>
        <p:nvSpPr>
          <p:cNvPr id="81" name="Google Shape;81;p5"/>
          <p:cNvSpPr txBox="1"/>
          <p:nvPr/>
        </p:nvSpPr>
        <p:spPr>
          <a:xfrm>
            <a:off x="76197" y="87997"/>
            <a:ext cx="60819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000" b="1" i="0" u="none" strike="noStrike" cap="none">
                <a:solidFill>
                  <a:schemeClr val="dk1"/>
                </a:solidFill>
                <a:latin typeface="Inter"/>
                <a:ea typeface="Inter"/>
                <a:cs typeface="Inter"/>
                <a:sym typeface="Inter"/>
              </a:rPr>
              <a:t>Latar Belakang</a:t>
            </a:r>
            <a:endParaRPr sz="1000" b="1" i="0" u="none" strike="noStrike" cap="none">
              <a:solidFill>
                <a:schemeClr val="dk1"/>
              </a:solidFill>
              <a:latin typeface="Inter"/>
              <a:ea typeface="Inter"/>
              <a:cs typeface="Inter"/>
              <a:sym typeface="Inter"/>
            </a:endParaRPr>
          </a:p>
        </p:txBody>
      </p:sp>
      <p:sp>
        <p:nvSpPr>
          <p:cNvPr id="82" name="Google Shape;82;p5"/>
          <p:cNvSpPr txBox="1">
            <a:spLocks noGrp="1"/>
          </p:cNvSpPr>
          <p:nvPr>
            <p:ph type="title"/>
          </p:nvPr>
        </p:nvSpPr>
        <p:spPr>
          <a:xfrm>
            <a:off x="311700" y="673625"/>
            <a:ext cx="8480400" cy="8193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990"/>
              <a:buNone/>
            </a:pPr>
            <a:r>
              <a:rPr lang="en" sz="2820">
                <a:solidFill>
                  <a:schemeClr val="dk1"/>
                </a:solidFill>
                <a:latin typeface="Maven Pro SemiBold"/>
                <a:ea typeface="Maven Pro SemiBold"/>
                <a:cs typeface="Maven Pro SemiBold"/>
                <a:sym typeface="Maven Pro SemiBold"/>
              </a:rPr>
              <a:t>Latar Belakang Project</a:t>
            </a:r>
            <a:endParaRPr sz="2820">
              <a:solidFill>
                <a:schemeClr val="dk1"/>
              </a:solidFill>
              <a:latin typeface="Maven Pro SemiBold"/>
              <a:ea typeface="Maven Pro SemiBold"/>
              <a:cs typeface="Maven Pro SemiBold"/>
              <a:sym typeface="Maven Pro Semi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6"/>
          <p:cNvSpPr txBox="1">
            <a:spLocks noGrp="1"/>
          </p:cNvSpPr>
          <p:nvPr>
            <p:ph type="title"/>
          </p:nvPr>
        </p:nvSpPr>
        <p:spPr>
          <a:xfrm>
            <a:off x="537425" y="1457350"/>
            <a:ext cx="5455500" cy="17835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600">
                <a:solidFill>
                  <a:schemeClr val="dk1"/>
                </a:solidFill>
                <a:latin typeface="Maven Pro SemiBold"/>
                <a:ea typeface="Maven Pro SemiBold"/>
                <a:cs typeface="Maven Pro SemiBold"/>
                <a:sym typeface="Maven Pro SemiBold"/>
              </a:rPr>
              <a:t>Explorasi Data dan Visualisasi</a:t>
            </a:r>
            <a:endParaRPr sz="3600">
              <a:solidFill>
                <a:schemeClr val="dk1"/>
              </a:solidFill>
              <a:latin typeface="Maven Pro SemiBold"/>
              <a:ea typeface="Maven Pro SemiBold"/>
              <a:cs typeface="Maven Pro SemiBold"/>
              <a:sym typeface="Maven Pro SemiBold"/>
            </a:endParaRPr>
          </a:p>
        </p:txBody>
      </p:sp>
      <p:sp>
        <p:nvSpPr>
          <p:cNvPr id="88" name="Google Shape;88;p6"/>
          <p:cNvSpPr txBox="1"/>
          <p:nvPr/>
        </p:nvSpPr>
        <p:spPr>
          <a:xfrm>
            <a:off x="124200" y="80221"/>
            <a:ext cx="60819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chemeClr val="dk1"/>
                </a:solidFill>
                <a:latin typeface="Inter"/>
                <a:ea typeface="Inter"/>
                <a:cs typeface="Inter"/>
                <a:sym typeface="Inter"/>
              </a:rPr>
              <a:t>Explorasi Data dan Visualisasi</a:t>
            </a:r>
            <a:endParaRPr sz="1000" b="1" i="0" u="none" strike="noStrike" cap="none">
              <a:solidFill>
                <a:schemeClr val="dk1"/>
              </a:solidFill>
              <a:latin typeface="Inter"/>
              <a:ea typeface="Inter"/>
              <a:cs typeface="Inter"/>
              <a:sym typeface="Inter"/>
            </a:endParaRPr>
          </a:p>
        </p:txBody>
      </p:sp>
      <p:sp>
        <p:nvSpPr>
          <p:cNvPr id="89" name="Google Shape;89;p6"/>
          <p:cNvSpPr txBox="1"/>
          <p:nvPr/>
        </p:nvSpPr>
        <p:spPr>
          <a:xfrm>
            <a:off x="537425" y="3240750"/>
            <a:ext cx="3705000" cy="714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600"/>
              <a:buFont typeface="Arial"/>
              <a:buNone/>
            </a:pPr>
            <a:endParaRPr sz="1600" b="0" i="0" u="none" strike="noStrike" cap="none">
              <a:solidFill>
                <a:schemeClr val="lt1"/>
              </a:solidFill>
              <a:latin typeface="Inter Medium"/>
              <a:ea typeface="Inter Medium"/>
              <a:cs typeface="Inter Medium"/>
              <a:sym typeface="Inter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7"/>
          <p:cNvSpPr txBox="1">
            <a:spLocks noGrp="1"/>
          </p:cNvSpPr>
          <p:nvPr>
            <p:ph type="body" idx="1"/>
          </p:nvPr>
        </p:nvSpPr>
        <p:spPr>
          <a:xfrm>
            <a:off x="331800" y="1060575"/>
            <a:ext cx="8480400" cy="4041600"/>
          </a:xfrm>
          <a:prstGeom prst="rect">
            <a:avLst/>
          </a:prstGeom>
          <a:noFill/>
          <a:ln>
            <a:noFill/>
          </a:ln>
        </p:spPr>
        <p:txBody>
          <a:bodyPr spcFirstLastPara="1" wrap="square" lIns="91425" tIns="91425" rIns="91425" bIns="91425" anchor="t" anchorCtr="0">
            <a:noAutofit/>
          </a:bodyPr>
          <a:lstStyle/>
          <a:p>
            <a:pPr marL="457200" lvl="0" indent="-336550" algn="just" rtl="0">
              <a:spcBef>
                <a:spcPts val="1000"/>
              </a:spcBef>
              <a:spcAft>
                <a:spcPts val="0"/>
              </a:spcAft>
              <a:buClr>
                <a:schemeClr val="dk1"/>
              </a:buClr>
              <a:buSzPts val="1700"/>
              <a:buChar char="-"/>
            </a:pPr>
            <a:r>
              <a:rPr lang="en" sz="1700">
                <a:solidFill>
                  <a:schemeClr val="dk1"/>
                </a:solidFill>
                <a:latin typeface="Times New Roman"/>
                <a:ea typeface="Times New Roman"/>
                <a:cs typeface="Times New Roman"/>
                <a:sym typeface="Times New Roman"/>
              </a:rPr>
              <a:t>Dataset ini berisi data asuransi kesehatan dari </a:t>
            </a:r>
            <a:r>
              <a:rPr lang="en" sz="1700" b="1">
                <a:solidFill>
                  <a:schemeClr val="dk1"/>
                </a:solidFill>
                <a:latin typeface="Times New Roman"/>
                <a:ea typeface="Times New Roman"/>
                <a:cs typeface="Times New Roman"/>
                <a:sym typeface="Times New Roman"/>
              </a:rPr>
              <a:t>1.338 nasabah</a:t>
            </a:r>
            <a:r>
              <a:rPr lang="en" sz="1700">
                <a:solidFill>
                  <a:schemeClr val="dk1"/>
                </a:solidFill>
                <a:latin typeface="Times New Roman"/>
                <a:ea typeface="Times New Roman"/>
                <a:cs typeface="Times New Roman"/>
                <a:sym typeface="Times New Roman"/>
              </a:rPr>
              <a:t>.</a:t>
            </a:r>
            <a:endParaRPr sz="1700">
              <a:solidFill>
                <a:schemeClr val="dk1"/>
              </a:solidFill>
              <a:latin typeface="Times New Roman"/>
              <a:ea typeface="Times New Roman"/>
              <a:cs typeface="Times New Roman"/>
              <a:sym typeface="Times New Roman"/>
            </a:endParaRPr>
          </a:p>
          <a:p>
            <a:pPr marL="457200" lvl="0" indent="-336550" algn="just" rtl="0">
              <a:spcBef>
                <a:spcPts val="0"/>
              </a:spcBef>
              <a:spcAft>
                <a:spcPts val="0"/>
              </a:spcAft>
              <a:buClr>
                <a:schemeClr val="dk1"/>
              </a:buClr>
              <a:buSzPts val="1700"/>
              <a:buChar char="-"/>
            </a:pPr>
            <a:r>
              <a:rPr lang="en" sz="1700">
                <a:solidFill>
                  <a:schemeClr val="dk1"/>
                </a:solidFill>
                <a:latin typeface="Times New Roman"/>
                <a:ea typeface="Times New Roman"/>
                <a:cs typeface="Times New Roman"/>
                <a:sym typeface="Times New Roman"/>
              </a:rPr>
              <a:t>Dataset mencerminkan bagaimana perusahaan asuransi menentukan </a:t>
            </a:r>
            <a:r>
              <a:rPr lang="en" sz="1700" b="1">
                <a:solidFill>
                  <a:schemeClr val="dk1"/>
                </a:solidFill>
                <a:latin typeface="Times New Roman"/>
                <a:ea typeface="Times New Roman"/>
                <a:cs typeface="Times New Roman"/>
                <a:sym typeface="Times New Roman"/>
              </a:rPr>
              <a:t>biaya premi</a:t>
            </a:r>
            <a:r>
              <a:rPr lang="en" sz="1700">
                <a:solidFill>
                  <a:schemeClr val="dk1"/>
                </a:solidFill>
                <a:latin typeface="Times New Roman"/>
                <a:ea typeface="Times New Roman"/>
                <a:cs typeface="Times New Roman"/>
                <a:sym typeface="Times New Roman"/>
              </a:rPr>
              <a:t> berdasarkan </a:t>
            </a:r>
            <a:r>
              <a:rPr lang="en" sz="1700" b="1">
                <a:solidFill>
                  <a:schemeClr val="dk1"/>
                </a:solidFill>
                <a:latin typeface="Times New Roman"/>
                <a:ea typeface="Times New Roman"/>
                <a:cs typeface="Times New Roman"/>
                <a:sym typeface="Times New Roman"/>
              </a:rPr>
              <a:t>profil risiko kesehatan</a:t>
            </a:r>
            <a:r>
              <a:rPr lang="en" sz="1700">
                <a:solidFill>
                  <a:schemeClr val="dk1"/>
                </a:solidFill>
                <a:latin typeface="Times New Roman"/>
                <a:ea typeface="Times New Roman"/>
                <a:cs typeface="Times New Roman"/>
                <a:sym typeface="Times New Roman"/>
              </a:rPr>
              <a:t> setiap orang.</a:t>
            </a:r>
            <a:endParaRPr sz="1700">
              <a:solidFill>
                <a:schemeClr val="dk1"/>
              </a:solidFill>
              <a:latin typeface="Times New Roman"/>
              <a:ea typeface="Times New Roman"/>
              <a:cs typeface="Times New Roman"/>
              <a:sym typeface="Times New Roman"/>
            </a:endParaRPr>
          </a:p>
          <a:p>
            <a:pPr marL="457200" lvl="0" indent="-336550" algn="just" rtl="0">
              <a:spcBef>
                <a:spcPts val="0"/>
              </a:spcBef>
              <a:spcAft>
                <a:spcPts val="0"/>
              </a:spcAft>
              <a:buClr>
                <a:schemeClr val="dk1"/>
              </a:buClr>
              <a:buSzPts val="1700"/>
              <a:buFont typeface="Times New Roman"/>
              <a:buChar char="-"/>
            </a:pPr>
            <a:r>
              <a:rPr lang="en" sz="1700">
                <a:solidFill>
                  <a:schemeClr val="dk1"/>
                </a:solidFill>
                <a:latin typeface="Times New Roman"/>
                <a:ea typeface="Times New Roman"/>
                <a:cs typeface="Times New Roman"/>
                <a:sym typeface="Times New Roman"/>
              </a:rPr>
              <a:t>Dataset ini penting karena:</a:t>
            </a:r>
            <a:endParaRPr sz="1700">
              <a:solidFill>
                <a:schemeClr val="dk1"/>
              </a:solidFill>
              <a:latin typeface="Times New Roman"/>
              <a:ea typeface="Times New Roman"/>
              <a:cs typeface="Times New Roman"/>
              <a:sym typeface="Times New Roman"/>
            </a:endParaRPr>
          </a:p>
          <a:p>
            <a:pPr marL="914400" lvl="1" indent="-336550" algn="just" rtl="0">
              <a:spcBef>
                <a:spcPts val="0"/>
              </a:spcBef>
              <a:spcAft>
                <a:spcPts val="0"/>
              </a:spcAft>
              <a:buClr>
                <a:schemeClr val="dk1"/>
              </a:buClr>
              <a:buSzPts val="1700"/>
              <a:buChar char="-"/>
            </a:pPr>
            <a:r>
              <a:rPr lang="en" sz="1700">
                <a:solidFill>
                  <a:schemeClr val="dk1"/>
                </a:solidFill>
                <a:latin typeface="Times New Roman"/>
                <a:ea typeface="Times New Roman"/>
                <a:cs typeface="Times New Roman"/>
                <a:sym typeface="Times New Roman"/>
              </a:rPr>
              <a:t>Membantu perusahaan asuransi menentukan </a:t>
            </a:r>
            <a:r>
              <a:rPr lang="en" sz="1700" b="1">
                <a:solidFill>
                  <a:schemeClr val="dk1"/>
                </a:solidFill>
                <a:latin typeface="Times New Roman"/>
                <a:ea typeface="Times New Roman"/>
                <a:cs typeface="Times New Roman"/>
                <a:sym typeface="Times New Roman"/>
              </a:rPr>
              <a:t>harga premi yang adil</a:t>
            </a:r>
            <a:r>
              <a:rPr lang="en" sz="1700">
                <a:solidFill>
                  <a:schemeClr val="dk1"/>
                </a:solidFill>
                <a:latin typeface="Times New Roman"/>
                <a:ea typeface="Times New Roman"/>
                <a:cs typeface="Times New Roman"/>
                <a:sym typeface="Times New Roman"/>
              </a:rPr>
              <a:t> sesuai risiko kesehatan nasabah.</a:t>
            </a:r>
            <a:endParaRPr sz="1700">
              <a:solidFill>
                <a:schemeClr val="dk1"/>
              </a:solidFill>
              <a:latin typeface="Times New Roman"/>
              <a:ea typeface="Times New Roman"/>
              <a:cs typeface="Times New Roman"/>
              <a:sym typeface="Times New Roman"/>
            </a:endParaRPr>
          </a:p>
          <a:p>
            <a:pPr marL="914400" lvl="1" indent="-336550" algn="just" rtl="0">
              <a:spcBef>
                <a:spcPts val="0"/>
              </a:spcBef>
              <a:spcAft>
                <a:spcPts val="0"/>
              </a:spcAft>
              <a:buClr>
                <a:schemeClr val="dk1"/>
              </a:buClr>
              <a:buSzPts val="1700"/>
              <a:buChar char="-"/>
            </a:pPr>
            <a:r>
              <a:rPr lang="en" sz="1700">
                <a:solidFill>
                  <a:schemeClr val="dk1"/>
                </a:solidFill>
                <a:latin typeface="Times New Roman"/>
                <a:ea typeface="Times New Roman"/>
                <a:cs typeface="Times New Roman"/>
                <a:sym typeface="Times New Roman"/>
              </a:rPr>
              <a:t>Membantu calon nasabah memperkirakan </a:t>
            </a:r>
            <a:r>
              <a:rPr lang="en" sz="1700" b="1">
                <a:solidFill>
                  <a:schemeClr val="dk1"/>
                </a:solidFill>
                <a:latin typeface="Times New Roman"/>
                <a:ea typeface="Times New Roman"/>
                <a:cs typeface="Times New Roman"/>
                <a:sym typeface="Times New Roman"/>
              </a:rPr>
              <a:t>biaya asuransi</a:t>
            </a:r>
            <a:r>
              <a:rPr lang="en" sz="1700">
                <a:solidFill>
                  <a:schemeClr val="dk1"/>
                </a:solidFill>
                <a:latin typeface="Times New Roman"/>
                <a:ea typeface="Times New Roman"/>
                <a:cs typeface="Times New Roman"/>
                <a:sym typeface="Times New Roman"/>
              </a:rPr>
              <a:t> yang akan mereka keluarkan.</a:t>
            </a:r>
            <a:endParaRPr sz="1700">
              <a:solidFill>
                <a:schemeClr val="dk1"/>
              </a:solidFill>
              <a:latin typeface="Times New Roman"/>
              <a:ea typeface="Times New Roman"/>
              <a:cs typeface="Times New Roman"/>
              <a:sym typeface="Times New Roman"/>
            </a:endParaRPr>
          </a:p>
          <a:p>
            <a:pPr marL="457200" lvl="0" indent="-336550" algn="just" rtl="0">
              <a:spcBef>
                <a:spcPts val="1000"/>
              </a:spcBef>
              <a:spcAft>
                <a:spcPts val="0"/>
              </a:spcAft>
              <a:buClr>
                <a:schemeClr val="dk1"/>
              </a:buClr>
              <a:buSzPts val="1700"/>
              <a:buFont typeface="Times New Roman"/>
              <a:buChar char="-"/>
            </a:pPr>
            <a:r>
              <a:rPr lang="en" sz="1700">
                <a:solidFill>
                  <a:schemeClr val="dk1"/>
                </a:solidFill>
                <a:latin typeface="Times New Roman"/>
                <a:ea typeface="Times New Roman"/>
                <a:cs typeface="Times New Roman"/>
                <a:sym typeface="Times New Roman"/>
              </a:rPr>
              <a:t>Fitur-fitur yang mempengaruhi biaya asuransi meliputi usia, jenis kelamin, indeks massa tubuh (BMI), jumlah anak tanggungan, status perokok, dan wilayah tempat tinggal.</a:t>
            </a:r>
            <a:endParaRPr sz="1700">
              <a:solidFill>
                <a:schemeClr val="dk1"/>
              </a:solidFill>
              <a:latin typeface="Times New Roman"/>
              <a:ea typeface="Times New Roman"/>
              <a:cs typeface="Times New Roman"/>
              <a:sym typeface="Times New Roman"/>
            </a:endParaRPr>
          </a:p>
          <a:p>
            <a:pPr marL="457200" lvl="0" indent="-336550" algn="just" rtl="0">
              <a:spcBef>
                <a:spcPts val="1000"/>
              </a:spcBef>
              <a:spcAft>
                <a:spcPts val="1000"/>
              </a:spcAft>
              <a:buClr>
                <a:schemeClr val="dk1"/>
              </a:buClr>
              <a:buSzPts val="1700"/>
              <a:buFont typeface="Times New Roman"/>
              <a:buChar char="-"/>
            </a:pPr>
            <a:r>
              <a:rPr lang="en" sz="1700">
                <a:solidFill>
                  <a:schemeClr val="dk1"/>
                </a:solidFill>
                <a:latin typeface="Times New Roman"/>
                <a:ea typeface="Times New Roman"/>
                <a:cs typeface="Times New Roman"/>
                <a:sym typeface="Times New Roman"/>
              </a:rPr>
              <a:t>Terdapat </a:t>
            </a:r>
            <a:r>
              <a:rPr lang="en" sz="1700" b="1">
                <a:solidFill>
                  <a:schemeClr val="dk1"/>
                </a:solidFill>
                <a:latin typeface="Times New Roman"/>
                <a:ea typeface="Times New Roman"/>
                <a:cs typeface="Times New Roman"/>
                <a:sym typeface="Times New Roman"/>
              </a:rPr>
              <a:t>1 data duplikat</a:t>
            </a:r>
            <a:r>
              <a:rPr lang="en" sz="1700">
                <a:solidFill>
                  <a:schemeClr val="dk1"/>
                </a:solidFill>
                <a:latin typeface="Times New Roman"/>
                <a:ea typeface="Times New Roman"/>
                <a:cs typeface="Times New Roman"/>
                <a:sym typeface="Times New Roman"/>
              </a:rPr>
              <a:t> yang perlu dibersihkan, sehingga tersisa </a:t>
            </a:r>
            <a:r>
              <a:rPr lang="en" sz="1700" b="1">
                <a:solidFill>
                  <a:schemeClr val="dk1"/>
                </a:solidFill>
                <a:latin typeface="Times New Roman"/>
                <a:ea typeface="Times New Roman"/>
                <a:cs typeface="Times New Roman"/>
                <a:sym typeface="Times New Roman"/>
              </a:rPr>
              <a:t>1.337 baris data</a:t>
            </a:r>
            <a:r>
              <a:rPr lang="en" sz="1700">
                <a:solidFill>
                  <a:schemeClr val="dk1"/>
                </a:solidFill>
                <a:latin typeface="Times New Roman"/>
                <a:ea typeface="Times New Roman"/>
                <a:cs typeface="Times New Roman"/>
                <a:sym typeface="Times New Roman"/>
              </a:rPr>
              <a:t> yang siap dianalisis lebih lanjut.</a:t>
            </a:r>
            <a:endParaRPr sz="1700">
              <a:solidFill>
                <a:schemeClr val="dk1"/>
              </a:solidFill>
              <a:latin typeface="Times New Roman"/>
              <a:ea typeface="Times New Roman"/>
              <a:cs typeface="Times New Roman"/>
              <a:sym typeface="Times New Roman"/>
            </a:endParaRPr>
          </a:p>
        </p:txBody>
      </p:sp>
      <p:sp>
        <p:nvSpPr>
          <p:cNvPr id="95" name="Google Shape;95;p7"/>
          <p:cNvSpPr txBox="1"/>
          <p:nvPr/>
        </p:nvSpPr>
        <p:spPr>
          <a:xfrm>
            <a:off x="76197" y="87997"/>
            <a:ext cx="60819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000" b="1" i="0" u="none" strike="noStrike" cap="none">
                <a:solidFill>
                  <a:schemeClr val="dk1"/>
                </a:solidFill>
                <a:latin typeface="Inter"/>
                <a:ea typeface="Inter"/>
                <a:cs typeface="Inter"/>
                <a:sym typeface="Inter"/>
              </a:rPr>
              <a:t>EDA and Visualization</a:t>
            </a:r>
            <a:endParaRPr sz="1000" b="1" i="0" u="none" strike="noStrike" cap="none">
              <a:solidFill>
                <a:schemeClr val="dk1"/>
              </a:solidFill>
              <a:latin typeface="Inter"/>
              <a:ea typeface="Inter"/>
              <a:cs typeface="Inter"/>
              <a:sym typeface="Inter"/>
            </a:endParaRPr>
          </a:p>
        </p:txBody>
      </p:sp>
      <p:sp>
        <p:nvSpPr>
          <p:cNvPr id="96" name="Google Shape;96;p7"/>
          <p:cNvSpPr txBox="1">
            <a:spLocks noGrp="1"/>
          </p:cNvSpPr>
          <p:nvPr>
            <p:ph type="title"/>
          </p:nvPr>
        </p:nvSpPr>
        <p:spPr>
          <a:xfrm>
            <a:off x="311700" y="354250"/>
            <a:ext cx="8480400" cy="8193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990"/>
              <a:buNone/>
            </a:pPr>
            <a:r>
              <a:rPr lang="en" sz="2820">
                <a:solidFill>
                  <a:schemeClr val="dk1"/>
                </a:solidFill>
                <a:latin typeface="Maven Pro SemiBold"/>
                <a:ea typeface="Maven Pro SemiBold"/>
                <a:cs typeface="Maven Pro SemiBold"/>
                <a:sym typeface="Maven Pro SemiBold"/>
              </a:rPr>
              <a:t>Business Understanding</a:t>
            </a:r>
            <a:endParaRPr sz="2820">
              <a:solidFill>
                <a:schemeClr val="dk1"/>
              </a:solidFill>
              <a:latin typeface="Maven Pro SemiBold"/>
              <a:ea typeface="Maven Pro SemiBold"/>
              <a:cs typeface="Maven Pro SemiBold"/>
              <a:sym typeface="Maven Pro Semi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8"/>
          <p:cNvSpPr txBox="1">
            <a:spLocks noGrp="1"/>
          </p:cNvSpPr>
          <p:nvPr>
            <p:ph type="body" idx="1"/>
          </p:nvPr>
        </p:nvSpPr>
        <p:spPr>
          <a:xfrm>
            <a:off x="311700" y="1556750"/>
            <a:ext cx="8480400" cy="962400"/>
          </a:xfrm>
          <a:prstGeom prst="rect">
            <a:avLst/>
          </a:prstGeom>
          <a:noFill/>
          <a:ln>
            <a:noFill/>
          </a:ln>
        </p:spPr>
        <p:txBody>
          <a:bodyPr spcFirstLastPara="1" wrap="square" lIns="91425" tIns="91425" rIns="91425" bIns="91425" anchor="t" anchorCtr="0">
            <a:noAutofit/>
          </a:bodyPr>
          <a:lstStyle/>
          <a:p>
            <a:pPr marL="0" lvl="0" indent="0" algn="l" rtl="0">
              <a:spcBef>
                <a:spcPts val="1000"/>
              </a:spcBef>
              <a:spcAft>
                <a:spcPts val="0"/>
              </a:spcAft>
              <a:buClr>
                <a:schemeClr val="dk1"/>
              </a:buClr>
              <a:buSzPts val="1100"/>
              <a:buFont typeface="Arial"/>
              <a:buNone/>
            </a:pPr>
            <a:r>
              <a:rPr lang="en" b="1">
                <a:solidFill>
                  <a:schemeClr val="dk1"/>
                </a:solidFill>
                <a:latin typeface="Times New Roman"/>
                <a:ea typeface="Times New Roman"/>
                <a:cs typeface="Times New Roman"/>
                <a:sym typeface="Times New Roman"/>
              </a:rPr>
              <a:t>Data preprocessing</a:t>
            </a:r>
            <a:r>
              <a:rPr lang="en">
                <a:solidFill>
                  <a:schemeClr val="dk1"/>
                </a:solidFill>
                <a:latin typeface="Times New Roman"/>
                <a:ea typeface="Times New Roman"/>
                <a:cs typeface="Times New Roman"/>
                <a:sym typeface="Times New Roman"/>
              </a:rPr>
              <a:t> ini diperlukan karena machine learning hanya bisa memproses data dalam bentuk angka, sementara dataset kita memiliki data kategorikal seperti jenis kelamin, status perokok, dan wilayah.</a:t>
            </a:r>
            <a:endParaRPr>
              <a:solidFill>
                <a:schemeClr val="dk1"/>
              </a:solidFill>
              <a:latin typeface="Times New Roman"/>
              <a:ea typeface="Times New Roman"/>
              <a:cs typeface="Times New Roman"/>
              <a:sym typeface="Times New Roman"/>
            </a:endParaRPr>
          </a:p>
          <a:p>
            <a:pPr marL="0" lvl="0" indent="0" algn="l" rtl="0">
              <a:lnSpc>
                <a:spcPct val="115000"/>
              </a:lnSpc>
              <a:spcBef>
                <a:spcPts val="1000"/>
              </a:spcBef>
              <a:spcAft>
                <a:spcPts val="1000"/>
              </a:spcAft>
              <a:buClr>
                <a:srgbClr val="000000"/>
              </a:buClr>
              <a:buSzPts val="1800"/>
              <a:buFont typeface="Arial"/>
              <a:buNone/>
            </a:pPr>
            <a:endParaRPr>
              <a:solidFill>
                <a:schemeClr val="dk1"/>
              </a:solidFill>
              <a:latin typeface="Times New Roman"/>
              <a:ea typeface="Times New Roman"/>
              <a:cs typeface="Times New Roman"/>
              <a:sym typeface="Times New Roman"/>
            </a:endParaRPr>
          </a:p>
        </p:txBody>
      </p:sp>
      <p:sp>
        <p:nvSpPr>
          <p:cNvPr id="102" name="Google Shape;102;p8"/>
          <p:cNvSpPr txBox="1">
            <a:spLocks noGrp="1"/>
          </p:cNvSpPr>
          <p:nvPr>
            <p:ph type="title"/>
          </p:nvPr>
        </p:nvSpPr>
        <p:spPr>
          <a:xfrm>
            <a:off x="311700" y="673625"/>
            <a:ext cx="8480400" cy="8193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990"/>
              <a:buNone/>
            </a:pPr>
            <a:r>
              <a:rPr lang="en" sz="2820">
                <a:solidFill>
                  <a:schemeClr val="dk1"/>
                </a:solidFill>
                <a:latin typeface="Maven Pro SemiBold"/>
                <a:ea typeface="Maven Pro SemiBold"/>
                <a:cs typeface="Maven Pro SemiBold"/>
                <a:sym typeface="Maven Pro SemiBold"/>
              </a:rPr>
              <a:t>Data Cleansing</a:t>
            </a:r>
            <a:endParaRPr sz="2820">
              <a:solidFill>
                <a:schemeClr val="dk1"/>
              </a:solidFill>
              <a:latin typeface="Maven Pro SemiBold"/>
              <a:ea typeface="Maven Pro SemiBold"/>
              <a:cs typeface="Maven Pro SemiBold"/>
              <a:sym typeface="Maven Pro SemiBold"/>
            </a:endParaRPr>
          </a:p>
        </p:txBody>
      </p:sp>
      <p:sp>
        <p:nvSpPr>
          <p:cNvPr id="103" name="Google Shape;103;p8"/>
          <p:cNvSpPr txBox="1"/>
          <p:nvPr/>
        </p:nvSpPr>
        <p:spPr>
          <a:xfrm>
            <a:off x="76197" y="87997"/>
            <a:ext cx="60819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000" b="1" i="0" u="none" strike="noStrike" cap="none">
                <a:solidFill>
                  <a:schemeClr val="dk1"/>
                </a:solidFill>
                <a:latin typeface="Inter"/>
                <a:ea typeface="Inter"/>
                <a:cs typeface="Inter"/>
                <a:sym typeface="Inter"/>
              </a:rPr>
              <a:t>EDA and Visualization</a:t>
            </a:r>
            <a:endParaRPr sz="1000" b="1" i="0" u="none" strike="noStrike" cap="none">
              <a:solidFill>
                <a:schemeClr val="dk1"/>
              </a:solidFill>
              <a:latin typeface="Inter"/>
              <a:ea typeface="Inter"/>
              <a:cs typeface="Inter"/>
              <a:sym typeface="Inter"/>
            </a:endParaRPr>
          </a:p>
        </p:txBody>
      </p:sp>
      <p:sp>
        <p:nvSpPr>
          <p:cNvPr id="104" name="Google Shape;104;p8"/>
          <p:cNvSpPr txBox="1"/>
          <p:nvPr/>
        </p:nvSpPr>
        <p:spPr>
          <a:xfrm>
            <a:off x="311700" y="2816250"/>
            <a:ext cx="3687600" cy="2183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000"/>
              </a:spcBef>
              <a:spcAft>
                <a:spcPts val="0"/>
              </a:spcAft>
              <a:buNone/>
            </a:pPr>
            <a:r>
              <a:rPr lang="en" sz="1800" b="1">
                <a:solidFill>
                  <a:schemeClr val="dk1"/>
                </a:solidFill>
                <a:latin typeface="Times New Roman"/>
                <a:ea typeface="Times New Roman"/>
                <a:cs typeface="Times New Roman"/>
                <a:sym typeface="Times New Roman"/>
              </a:rPr>
              <a:t>Dimensi Data Awal:</a:t>
            </a:r>
            <a:endParaRPr sz="1800" b="1">
              <a:solidFill>
                <a:schemeClr val="dk1"/>
              </a:solidFill>
              <a:latin typeface="Times New Roman"/>
              <a:ea typeface="Times New Roman"/>
              <a:cs typeface="Times New Roman"/>
              <a:sym typeface="Times New Roman"/>
            </a:endParaRPr>
          </a:p>
          <a:p>
            <a:pPr marL="457200" lvl="0" indent="-342900" algn="l" rtl="0">
              <a:lnSpc>
                <a:spcPct val="115000"/>
              </a:lnSpc>
              <a:spcBef>
                <a:spcPts val="100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1.338 baris dan 7 kolom</a:t>
            </a:r>
            <a:endParaRPr sz="1800">
              <a:solidFill>
                <a:schemeClr val="dk1"/>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1 data duplikat yang perlu dihapus</a:t>
            </a:r>
            <a:endParaRPr sz="1800">
              <a:solidFill>
                <a:schemeClr val="dk1"/>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Tidak ada missing value pada semua kolom</a:t>
            </a:r>
            <a:endParaRPr sz="1800">
              <a:latin typeface="Times New Roman"/>
              <a:ea typeface="Times New Roman"/>
              <a:cs typeface="Times New Roman"/>
              <a:sym typeface="Times New Roman"/>
            </a:endParaRPr>
          </a:p>
        </p:txBody>
      </p:sp>
      <p:sp>
        <p:nvSpPr>
          <p:cNvPr id="105" name="Google Shape;105;p8"/>
          <p:cNvSpPr txBox="1"/>
          <p:nvPr/>
        </p:nvSpPr>
        <p:spPr>
          <a:xfrm>
            <a:off x="4074000" y="2582975"/>
            <a:ext cx="4718100" cy="250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000"/>
              </a:spcBef>
              <a:spcAft>
                <a:spcPts val="0"/>
              </a:spcAft>
              <a:buNone/>
            </a:pPr>
            <a:r>
              <a:rPr lang="en" sz="1800" b="1">
                <a:solidFill>
                  <a:schemeClr val="dk1"/>
                </a:solidFill>
                <a:latin typeface="Times New Roman"/>
                <a:ea typeface="Times New Roman"/>
                <a:cs typeface="Times New Roman"/>
                <a:sym typeface="Times New Roman"/>
              </a:rPr>
              <a:t>Masalah yang Ditemukan</a:t>
            </a:r>
            <a:r>
              <a:rPr lang="e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marL="457200" lvl="0" indent="-342900" algn="l" rtl="0">
              <a:lnSpc>
                <a:spcPct val="115000"/>
              </a:lnSpc>
              <a:spcBef>
                <a:spcPts val="100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Data kategorikal (sex, smoker, region) tidak bisa diproses algoritma ML</a:t>
            </a:r>
            <a:endParaRPr sz="1800">
              <a:solidFill>
                <a:schemeClr val="dk1"/>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Ada data duplikat yang bisa memengaruhi hasil prediksi</a:t>
            </a:r>
            <a:endParaRPr sz="1800">
              <a:solidFill>
                <a:schemeClr val="dk1"/>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Terdapat outlier ekstrem pada charges dan BMI</a:t>
            </a:r>
            <a:endParaRPr sz="18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9"/>
          <p:cNvSpPr txBox="1">
            <a:spLocks noGrp="1"/>
          </p:cNvSpPr>
          <p:nvPr>
            <p:ph type="title"/>
          </p:nvPr>
        </p:nvSpPr>
        <p:spPr>
          <a:xfrm>
            <a:off x="311700" y="673625"/>
            <a:ext cx="8480400" cy="8193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990"/>
              <a:buNone/>
            </a:pPr>
            <a:r>
              <a:rPr lang="en" sz="2820">
                <a:solidFill>
                  <a:schemeClr val="dk1"/>
                </a:solidFill>
                <a:latin typeface="Maven Pro SemiBold"/>
                <a:ea typeface="Maven Pro SemiBold"/>
                <a:cs typeface="Maven Pro SemiBold"/>
                <a:sym typeface="Maven Pro SemiBold"/>
              </a:rPr>
              <a:t>Data Cleansing</a:t>
            </a:r>
            <a:endParaRPr sz="2820">
              <a:solidFill>
                <a:schemeClr val="dk1"/>
              </a:solidFill>
              <a:latin typeface="Maven Pro SemiBold"/>
              <a:ea typeface="Maven Pro SemiBold"/>
              <a:cs typeface="Maven Pro SemiBold"/>
              <a:sym typeface="Maven Pro SemiBold"/>
            </a:endParaRPr>
          </a:p>
        </p:txBody>
      </p:sp>
      <p:sp>
        <p:nvSpPr>
          <p:cNvPr id="111" name="Google Shape;111;p9"/>
          <p:cNvSpPr txBox="1"/>
          <p:nvPr/>
        </p:nvSpPr>
        <p:spPr>
          <a:xfrm>
            <a:off x="76197" y="87997"/>
            <a:ext cx="60819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000" b="1" i="0" u="none" strike="noStrike" cap="none">
                <a:solidFill>
                  <a:schemeClr val="dk1"/>
                </a:solidFill>
                <a:latin typeface="Inter"/>
                <a:ea typeface="Inter"/>
                <a:cs typeface="Inter"/>
                <a:sym typeface="Inter"/>
              </a:rPr>
              <a:t>EDA and Visualization</a:t>
            </a:r>
            <a:endParaRPr sz="1000" b="1" i="0" u="none" strike="noStrike" cap="none">
              <a:solidFill>
                <a:schemeClr val="dk1"/>
              </a:solidFill>
              <a:latin typeface="Inter"/>
              <a:ea typeface="Inter"/>
              <a:cs typeface="Inter"/>
              <a:sym typeface="Inter"/>
            </a:endParaRPr>
          </a:p>
        </p:txBody>
      </p:sp>
      <p:sp>
        <p:nvSpPr>
          <p:cNvPr id="112" name="Google Shape;112;p9"/>
          <p:cNvSpPr txBox="1"/>
          <p:nvPr/>
        </p:nvSpPr>
        <p:spPr>
          <a:xfrm>
            <a:off x="671850" y="1645100"/>
            <a:ext cx="7800300" cy="2745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000"/>
              </a:spcBef>
              <a:spcAft>
                <a:spcPts val="0"/>
              </a:spcAft>
              <a:buNone/>
            </a:pPr>
            <a:r>
              <a:rPr lang="en" sz="2000" b="1">
                <a:solidFill>
                  <a:schemeClr val="dk1"/>
                </a:solidFill>
                <a:latin typeface="Times New Roman"/>
                <a:ea typeface="Times New Roman"/>
                <a:cs typeface="Times New Roman"/>
                <a:sym typeface="Times New Roman"/>
              </a:rPr>
              <a:t>Solusi yang Diterapkan:</a:t>
            </a:r>
            <a:endParaRPr sz="2000" b="1">
              <a:solidFill>
                <a:schemeClr val="dk1"/>
              </a:solidFill>
              <a:latin typeface="Times New Roman"/>
              <a:ea typeface="Times New Roman"/>
              <a:cs typeface="Times New Roman"/>
              <a:sym typeface="Times New Roman"/>
            </a:endParaRPr>
          </a:p>
          <a:p>
            <a:pPr marL="457200" lvl="0" indent="-355600" algn="l" rtl="0">
              <a:lnSpc>
                <a:spcPct val="115000"/>
              </a:lnSpc>
              <a:spcBef>
                <a:spcPts val="1000"/>
              </a:spcBef>
              <a:spcAft>
                <a:spcPts val="0"/>
              </a:spcAft>
              <a:buClr>
                <a:schemeClr val="dk1"/>
              </a:buClr>
              <a:buSzPts val="2000"/>
              <a:buFont typeface="Inter"/>
              <a:buAutoNum type="arabicPeriod"/>
            </a:pPr>
            <a:r>
              <a:rPr lang="en" sz="2000" b="1">
                <a:solidFill>
                  <a:schemeClr val="dk1"/>
                </a:solidFill>
                <a:latin typeface="Times New Roman"/>
                <a:ea typeface="Times New Roman"/>
                <a:cs typeface="Times New Roman"/>
                <a:sym typeface="Times New Roman"/>
              </a:rPr>
              <a:t>Encoding</a:t>
            </a:r>
            <a:r>
              <a:rPr lang="en" sz="2000">
                <a:solidFill>
                  <a:schemeClr val="dk1"/>
                </a:solidFill>
                <a:latin typeface="Times New Roman"/>
                <a:ea typeface="Times New Roman"/>
                <a:cs typeface="Times New Roman"/>
                <a:sym typeface="Times New Roman"/>
              </a:rPr>
              <a:t>: Mengubah data kategorikal jadi numerik dengan mapping dan one-hot encoding</a:t>
            </a:r>
            <a:endParaRPr sz="2000">
              <a:solidFill>
                <a:schemeClr val="dk1"/>
              </a:solidFill>
              <a:latin typeface="Times New Roman"/>
              <a:ea typeface="Times New Roman"/>
              <a:cs typeface="Times New Roman"/>
              <a:sym typeface="Times New Roman"/>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b="1">
                <a:solidFill>
                  <a:schemeClr val="dk1"/>
                </a:solidFill>
                <a:latin typeface="Times New Roman"/>
                <a:ea typeface="Times New Roman"/>
                <a:cs typeface="Times New Roman"/>
                <a:sym typeface="Times New Roman"/>
              </a:rPr>
              <a:t>Pembersihan Data:</a:t>
            </a:r>
            <a:r>
              <a:rPr lang="en" sz="2000">
                <a:solidFill>
                  <a:schemeClr val="dk1"/>
                </a:solidFill>
                <a:latin typeface="Times New Roman"/>
                <a:ea typeface="Times New Roman"/>
                <a:cs typeface="Times New Roman"/>
                <a:sym typeface="Times New Roman"/>
              </a:rPr>
              <a:t> Menghapus 1 data duplikat</a:t>
            </a:r>
            <a:endParaRPr sz="2000">
              <a:solidFill>
                <a:schemeClr val="dk1"/>
              </a:solidFill>
              <a:latin typeface="Times New Roman"/>
              <a:ea typeface="Times New Roman"/>
              <a:cs typeface="Times New Roman"/>
              <a:sym typeface="Times New Roman"/>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b="1">
                <a:solidFill>
                  <a:schemeClr val="dk1"/>
                </a:solidFill>
                <a:latin typeface="Times New Roman"/>
                <a:ea typeface="Times New Roman"/>
                <a:cs typeface="Times New Roman"/>
                <a:sym typeface="Times New Roman"/>
              </a:rPr>
              <a:t>Outlier Removal</a:t>
            </a:r>
            <a:r>
              <a:rPr lang="en" sz="2000">
                <a:solidFill>
                  <a:schemeClr val="dk1"/>
                </a:solidFill>
                <a:latin typeface="Times New Roman"/>
                <a:ea typeface="Times New Roman"/>
                <a:cs typeface="Times New Roman"/>
                <a:sym typeface="Times New Roman"/>
              </a:rPr>
              <a:t>: Menggunakan metode IQR dengan threshold 2.0 untuk menghapus outlier ekstrem</a:t>
            </a:r>
            <a:endParaRPr sz="2000">
              <a:solidFill>
                <a:schemeClr val="dk1"/>
              </a:solidFill>
              <a:latin typeface="Times New Roman"/>
              <a:ea typeface="Times New Roman"/>
              <a:cs typeface="Times New Roman"/>
              <a:sym typeface="Times New Roman"/>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b="1">
                <a:solidFill>
                  <a:schemeClr val="dk1"/>
                </a:solidFill>
                <a:latin typeface="Times New Roman"/>
                <a:ea typeface="Times New Roman"/>
                <a:cs typeface="Times New Roman"/>
                <a:sym typeface="Times New Roman"/>
              </a:rPr>
              <a:t>Hasil akhir</a:t>
            </a:r>
            <a:r>
              <a:rPr lang="en" sz="2000">
                <a:solidFill>
                  <a:schemeClr val="dk1"/>
                </a:solidFill>
                <a:latin typeface="Times New Roman"/>
                <a:ea typeface="Times New Roman"/>
                <a:cs typeface="Times New Roman"/>
                <a:sym typeface="Times New Roman"/>
              </a:rPr>
              <a:t>: 1.263 baris data bersih dari 1.338 baris awal</a:t>
            </a:r>
            <a:endParaRPr sz="20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0"/>
          <p:cNvSpPr txBox="1">
            <a:spLocks noGrp="1"/>
          </p:cNvSpPr>
          <p:nvPr>
            <p:ph type="title"/>
          </p:nvPr>
        </p:nvSpPr>
        <p:spPr>
          <a:xfrm>
            <a:off x="311700" y="673625"/>
            <a:ext cx="8480400" cy="8193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990"/>
              <a:buNone/>
            </a:pPr>
            <a:r>
              <a:rPr lang="en" sz="2820">
                <a:solidFill>
                  <a:schemeClr val="dk1"/>
                </a:solidFill>
                <a:latin typeface="Maven Pro SemiBold"/>
                <a:ea typeface="Maven Pro SemiBold"/>
                <a:cs typeface="Maven Pro SemiBold"/>
                <a:sym typeface="Maven Pro SemiBold"/>
              </a:rPr>
              <a:t>Exploratory Data Analysis</a:t>
            </a:r>
            <a:endParaRPr sz="2820">
              <a:solidFill>
                <a:schemeClr val="dk1"/>
              </a:solidFill>
              <a:latin typeface="Maven Pro SemiBold"/>
              <a:ea typeface="Maven Pro SemiBold"/>
              <a:cs typeface="Maven Pro SemiBold"/>
              <a:sym typeface="Maven Pro SemiBold"/>
            </a:endParaRPr>
          </a:p>
        </p:txBody>
      </p:sp>
      <p:sp>
        <p:nvSpPr>
          <p:cNvPr id="118" name="Google Shape;118;p10"/>
          <p:cNvSpPr txBox="1"/>
          <p:nvPr/>
        </p:nvSpPr>
        <p:spPr>
          <a:xfrm>
            <a:off x="76197" y="87997"/>
            <a:ext cx="60819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000" b="1" i="0" u="none" strike="noStrike" cap="none">
                <a:solidFill>
                  <a:schemeClr val="dk1"/>
                </a:solidFill>
                <a:latin typeface="Inter"/>
                <a:ea typeface="Inter"/>
                <a:cs typeface="Inter"/>
                <a:sym typeface="Inter"/>
              </a:rPr>
              <a:t>EDA and Visualization</a:t>
            </a:r>
            <a:endParaRPr sz="1000" b="1" i="0" u="none" strike="noStrike" cap="none">
              <a:solidFill>
                <a:schemeClr val="dk1"/>
              </a:solidFill>
              <a:latin typeface="Inter"/>
              <a:ea typeface="Inter"/>
              <a:cs typeface="Inter"/>
              <a:sym typeface="Inter"/>
            </a:endParaRPr>
          </a:p>
        </p:txBody>
      </p:sp>
      <p:pic>
        <p:nvPicPr>
          <p:cNvPr id="119" name="Google Shape;119;p10"/>
          <p:cNvPicPr preferRelativeResize="0"/>
          <p:nvPr/>
        </p:nvPicPr>
        <p:blipFill>
          <a:blip r:embed="rId3">
            <a:alphaModFix/>
          </a:blip>
          <a:stretch>
            <a:fillRect/>
          </a:stretch>
        </p:blipFill>
        <p:spPr>
          <a:xfrm>
            <a:off x="311700" y="1492925"/>
            <a:ext cx="2121957" cy="1690885"/>
          </a:xfrm>
          <a:prstGeom prst="rect">
            <a:avLst/>
          </a:prstGeom>
          <a:noFill/>
          <a:ln>
            <a:noFill/>
          </a:ln>
        </p:spPr>
      </p:pic>
      <p:pic>
        <p:nvPicPr>
          <p:cNvPr id="120" name="Google Shape;120;p10"/>
          <p:cNvPicPr preferRelativeResize="0"/>
          <p:nvPr/>
        </p:nvPicPr>
        <p:blipFill>
          <a:blip r:embed="rId4">
            <a:alphaModFix/>
          </a:blip>
          <a:stretch>
            <a:fillRect/>
          </a:stretch>
        </p:blipFill>
        <p:spPr>
          <a:xfrm>
            <a:off x="2433660" y="1492926"/>
            <a:ext cx="2121957" cy="1690872"/>
          </a:xfrm>
          <a:prstGeom prst="rect">
            <a:avLst/>
          </a:prstGeom>
          <a:noFill/>
          <a:ln>
            <a:noFill/>
          </a:ln>
        </p:spPr>
      </p:pic>
      <p:pic>
        <p:nvPicPr>
          <p:cNvPr id="121" name="Google Shape;121;p10"/>
          <p:cNvPicPr preferRelativeResize="0"/>
          <p:nvPr/>
        </p:nvPicPr>
        <p:blipFill>
          <a:blip r:embed="rId5">
            <a:alphaModFix/>
          </a:blip>
          <a:stretch>
            <a:fillRect/>
          </a:stretch>
        </p:blipFill>
        <p:spPr>
          <a:xfrm>
            <a:off x="4555618" y="1492926"/>
            <a:ext cx="2121957" cy="1690873"/>
          </a:xfrm>
          <a:prstGeom prst="rect">
            <a:avLst/>
          </a:prstGeom>
          <a:noFill/>
          <a:ln>
            <a:noFill/>
          </a:ln>
        </p:spPr>
      </p:pic>
      <p:pic>
        <p:nvPicPr>
          <p:cNvPr id="122" name="Google Shape;122;p10"/>
          <p:cNvPicPr preferRelativeResize="0"/>
          <p:nvPr/>
        </p:nvPicPr>
        <p:blipFill>
          <a:blip r:embed="rId6">
            <a:alphaModFix/>
          </a:blip>
          <a:stretch>
            <a:fillRect/>
          </a:stretch>
        </p:blipFill>
        <p:spPr>
          <a:xfrm>
            <a:off x="6677577" y="1492926"/>
            <a:ext cx="2114522" cy="1690862"/>
          </a:xfrm>
          <a:prstGeom prst="rect">
            <a:avLst/>
          </a:prstGeom>
          <a:noFill/>
          <a:ln>
            <a:noFill/>
          </a:ln>
        </p:spPr>
      </p:pic>
      <p:pic>
        <p:nvPicPr>
          <p:cNvPr id="123" name="Google Shape;123;p10"/>
          <p:cNvPicPr preferRelativeResize="0"/>
          <p:nvPr/>
        </p:nvPicPr>
        <p:blipFill>
          <a:blip r:embed="rId7">
            <a:alphaModFix/>
          </a:blip>
          <a:stretch>
            <a:fillRect/>
          </a:stretch>
        </p:blipFill>
        <p:spPr>
          <a:xfrm>
            <a:off x="1358582" y="3283698"/>
            <a:ext cx="2142280" cy="1654902"/>
          </a:xfrm>
          <a:prstGeom prst="rect">
            <a:avLst/>
          </a:prstGeom>
          <a:noFill/>
          <a:ln>
            <a:noFill/>
          </a:ln>
        </p:spPr>
      </p:pic>
      <p:pic>
        <p:nvPicPr>
          <p:cNvPr id="124" name="Google Shape;124;p10"/>
          <p:cNvPicPr preferRelativeResize="0"/>
          <p:nvPr/>
        </p:nvPicPr>
        <p:blipFill>
          <a:blip r:embed="rId8">
            <a:alphaModFix/>
          </a:blip>
          <a:stretch>
            <a:fillRect/>
          </a:stretch>
        </p:blipFill>
        <p:spPr>
          <a:xfrm>
            <a:off x="3500854" y="3283698"/>
            <a:ext cx="2142280" cy="1654902"/>
          </a:xfrm>
          <a:prstGeom prst="rect">
            <a:avLst/>
          </a:prstGeom>
          <a:noFill/>
          <a:ln>
            <a:noFill/>
          </a:ln>
        </p:spPr>
      </p:pic>
      <p:pic>
        <p:nvPicPr>
          <p:cNvPr id="125" name="Google Shape;125;p10"/>
          <p:cNvPicPr preferRelativeResize="0"/>
          <p:nvPr/>
        </p:nvPicPr>
        <p:blipFill>
          <a:blip r:embed="rId9">
            <a:alphaModFix/>
          </a:blip>
          <a:stretch>
            <a:fillRect/>
          </a:stretch>
        </p:blipFill>
        <p:spPr>
          <a:xfrm>
            <a:off x="5643134" y="3283698"/>
            <a:ext cx="2313569" cy="165490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1"/>
          <p:cNvSpPr txBox="1">
            <a:spLocks noGrp="1"/>
          </p:cNvSpPr>
          <p:nvPr>
            <p:ph type="title"/>
          </p:nvPr>
        </p:nvSpPr>
        <p:spPr>
          <a:xfrm>
            <a:off x="537425" y="2214600"/>
            <a:ext cx="5455500" cy="714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600">
                <a:solidFill>
                  <a:schemeClr val="dk1"/>
                </a:solidFill>
                <a:latin typeface="Maven Pro SemiBold"/>
                <a:ea typeface="Maven Pro SemiBold"/>
                <a:cs typeface="Maven Pro SemiBold"/>
                <a:sym typeface="Maven Pro SemiBold"/>
              </a:rPr>
              <a:t>Modelling</a:t>
            </a:r>
            <a:endParaRPr sz="3600">
              <a:solidFill>
                <a:schemeClr val="dk1"/>
              </a:solidFill>
              <a:latin typeface="Maven Pro SemiBold"/>
              <a:ea typeface="Maven Pro SemiBold"/>
              <a:cs typeface="Maven Pro SemiBold"/>
              <a:sym typeface="Maven Pro SemiBold"/>
            </a:endParaRPr>
          </a:p>
        </p:txBody>
      </p:sp>
      <p:sp>
        <p:nvSpPr>
          <p:cNvPr id="131" name="Google Shape;131;p11"/>
          <p:cNvSpPr txBox="1"/>
          <p:nvPr/>
        </p:nvSpPr>
        <p:spPr>
          <a:xfrm>
            <a:off x="37475" y="66718"/>
            <a:ext cx="60819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chemeClr val="dk1"/>
                </a:solidFill>
                <a:latin typeface="Inter"/>
                <a:ea typeface="Inter"/>
                <a:cs typeface="Inter"/>
                <a:sym typeface="Inter"/>
              </a:rPr>
              <a:t>Modelling</a:t>
            </a:r>
            <a:endParaRPr sz="1000" b="1" i="0" u="none" strike="noStrike" cap="none">
              <a:solidFill>
                <a:schemeClr val="dk1"/>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2"/>
          <p:cNvSpPr txBox="1">
            <a:spLocks noGrp="1"/>
          </p:cNvSpPr>
          <p:nvPr>
            <p:ph type="body" idx="1"/>
          </p:nvPr>
        </p:nvSpPr>
        <p:spPr>
          <a:xfrm>
            <a:off x="403650" y="1291925"/>
            <a:ext cx="8336700" cy="356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1"/>
                </a:solidFill>
                <a:latin typeface="Times New Roman"/>
                <a:ea typeface="Times New Roman"/>
                <a:cs typeface="Times New Roman"/>
                <a:sym typeface="Times New Roman"/>
              </a:rPr>
              <a:t>Metode Validasi yang Digunakan</a:t>
            </a:r>
            <a:r>
              <a:rPr lang="e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marL="457200" lvl="0" indent="-342900" algn="l" rtl="0">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Train-Test Split dengan perbandingan 80:20 untuk data training dan testing</a:t>
            </a:r>
            <a:endParaRPr>
              <a:solidFill>
                <a:schemeClr val="dk1"/>
              </a:solidFill>
              <a:latin typeface="Times New Roman"/>
              <a:ea typeface="Times New Roman"/>
              <a:cs typeface="Times New Roman"/>
              <a:sym typeface="Times New Roman"/>
            </a:endParaRPr>
          </a:p>
          <a:p>
            <a:pPr marL="457200" lvl="0" indent="-342900" algn="l" rtl="0">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Random State 42 untuk memastikan hasil yang konsisten dan dapat direproduksi</a:t>
            </a:r>
            <a:endParaRPr>
              <a:solidFill>
                <a:schemeClr val="dk1"/>
              </a:solidFill>
              <a:latin typeface="Times New Roman"/>
              <a:ea typeface="Times New Roman"/>
              <a:cs typeface="Times New Roman"/>
              <a:sym typeface="Times New Roman"/>
            </a:endParaRPr>
          </a:p>
        </p:txBody>
      </p:sp>
      <p:sp>
        <p:nvSpPr>
          <p:cNvPr id="137" name="Google Shape;137;p12"/>
          <p:cNvSpPr txBox="1">
            <a:spLocks noGrp="1"/>
          </p:cNvSpPr>
          <p:nvPr>
            <p:ph type="title"/>
          </p:nvPr>
        </p:nvSpPr>
        <p:spPr>
          <a:xfrm>
            <a:off x="331800" y="550163"/>
            <a:ext cx="8480400" cy="8193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990"/>
              <a:buNone/>
            </a:pPr>
            <a:r>
              <a:rPr lang="en" sz="2820">
                <a:latin typeface="Maven Pro SemiBold"/>
                <a:ea typeface="Maven Pro SemiBold"/>
                <a:cs typeface="Maven Pro SemiBold"/>
                <a:sym typeface="Maven Pro SemiBold"/>
              </a:rPr>
              <a:t>Modelling</a:t>
            </a:r>
            <a:endParaRPr sz="2820">
              <a:solidFill>
                <a:schemeClr val="dk1"/>
              </a:solidFill>
              <a:latin typeface="Maven Pro SemiBold"/>
              <a:ea typeface="Maven Pro SemiBold"/>
              <a:cs typeface="Maven Pro SemiBold"/>
              <a:sym typeface="Maven Pro SemiBold"/>
            </a:endParaRPr>
          </a:p>
        </p:txBody>
      </p:sp>
      <p:sp>
        <p:nvSpPr>
          <p:cNvPr id="138" name="Google Shape;138;p12"/>
          <p:cNvSpPr txBox="1"/>
          <p:nvPr/>
        </p:nvSpPr>
        <p:spPr>
          <a:xfrm>
            <a:off x="76197" y="87997"/>
            <a:ext cx="60819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000" b="1" i="0" u="none" strike="noStrike" cap="none">
                <a:solidFill>
                  <a:schemeClr val="dk1"/>
                </a:solidFill>
                <a:latin typeface="Inter"/>
                <a:ea typeface="Inter"/>
                <a:cs typeface="Inter"/>
                <a:sym typeface="Inter"/>
              </a:rPr>
              <a:t>Modelling</a:t>
            </a:r>
            <a:endParaRPr sz="1000" b="1" i="0" u="none" strike="noStrike" cap="none">
              <a:solidFill>
                <a:schemeClr val="dk1"/>
              </a:solidFill>
              <a:latin typeface="Inter"/>
              <a:ea typeface="Inter"/>
              <a:cs typeface="Inter"/>
              <a:sym typeface="Inter"/>
            </a:endParaRPr>
          </a:p>
        </p:txBody>
      </p:sp>
      <p:pic>
        <p:nvPicPr>
          <p:cNvPr id="139" name="Google Shape;139;p12"/>
          <p:cNvPicPr preferRelativeResize="0"/>
          <p:nvPr/>
        </p:nvPicPr>
        <p:blipFill rotWithShape="1">
          <a:blip r:embed="rId3">
            <a:alphaModFix/>
          </a:blip>
          <a:srcRect l="5001" t="18255" r="5207" b="18248"/>
          <a:stretch/>
        </p:blipFill>
        <p:spPr>
          <a:xfrm>
            <a:off x="466725" y="2512825"/>
            <a:ext cx="8210548" cy="1600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g3ad0efc87e0_0_45"/>
          <p:cNvSpPr txBox="1">
            <a:spLocks noGrp="1"/>
          </p:cNvSpPr>
          <p:nvPr>
            <p:ph type="body" idx="1"/>
          </p:nvPr>
        </p:nvSpPr>
        <p:spPr>
          <a:xfrm>
            <a:off x="3710950" y="1529550"/>
            <a:ext cx="5014200" cy="140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900" b="1">
                <a:solidFill>
                  <a:schemeClr val="dk1"/>
                </a:solidFill>
                <a:latin typeface="Times New Roman"/>
                <a:ea typeface="Times New Roman"/>
                <a:cs typeface="Times New Roman"/>
                <a:sym typeface="Times New Roman"/>
              </a:rPr>
              <a:t>Metode Validasi</a:t>
            </a:r>
            <a:r>
              <a:rPr lang="en" sz="1900">
                <a:solidFill>
                  <a:schemeClr val="dk1"/>
                </a:solidFill>
                <a:latin typeface="Times New Roman"/>
                <a:ea typeface="Times New Roman"/>
                <a:cs typeface="Times New Roman"/>
                <a:sym typeface="Times New Roman"/>
              </a:rPr>
              <a:t> yang Digunakan:</a:t>
            </a:r>
            <a:endParaRPr sz="1900">
              <a:solidFill>
                <a:schemeClr val="dk1"/>
              </a:solidFill>
              <a:latin typeface="Times New Roman"/>
              <a:ea typeface="Times New Roman"/>
              <a:cs typeface="Times New Roman"/>
              <a:sym typeface="Times New Roman"/>
            </a:endParaRPr>
          </a:p>
          <a:p>
            <a:pPr marL="457200" lvl="0" indent="-349250" algn="l" rtl="0">
              <a:spcBef>
                <a:spcPts val="0"/>
              </a:spcBef>
              <a:spcAft>
                <a:spcPts val="0"/>
              </a:spcAft>
              <a:buClr>
                <a:schemeClr val="dk1"/>
              </a:buClr>
              <a:buSzPts val="1900"/>
              <a:buFont typeface="Times New Roman"/>
              <a:buChar char="-"/>
            </a:pPr>
            <a:r>
              <a:rPr lang="en" sz="1900">
                <a:solidFill>
                  <a:schemeClr val="dk1"/>
                </a:solidFill>
                <a:latin typeface="Times New Roman"/>
                <a:ea typeface="Times New Roman"/>
                <a:cs typeface="Times New Roman"/>
                <a:sym typeface="Times New Roman"/>
              </a:rPr>
              <a:t>5-Fold Cross Validation pada proses hyperparameter tuning untuk mencegah overfitting</a:t>
            </a:r>
            <a:endParaRPr sz="19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1900">
              <a:solidFill>
                <a:schemeClr val="dk1"/>
              </a:solidFill>
              <a:latin typeface="Times New Roman"/>
              <a:ea typeface="Times New Roman"/>
              <a:cs typeface="Times New Roman"/>
              <a:sym typeface="Times New Roman"/>
            </a:endParaRPr>
          </a:p>
        </p:txBody>
      </p:sp>
      <p:sp>
        <p:nvSpPr>
          <p:cNvPr id="145" name="Google Shape;145;g3ad0efc87e0_0_45"/>
          <p:cNvSpPr txBox="1">
            <a:spLocks noGrp="1"/>
          </p:cNvSpPr>
          <p:nvPr>
            <p:ph type="title"/>
          </p:nvPr>
        </p:nvSpPr>
        <p:spPr>
          <a:xfrm>
            <a:off x="331800" y="449650"/>
            <a:ext cx="8480400" cy="8193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990"/>
              <a:buNone/>
            </a:pPr>
            <a:r>
              <a:rPr lang="en" sz="2820">
                <a:latin typeface="Maven Pro SemiBold"/>
                <a:ea typeface="Maven Pro SemiBold"/>
                <a:cs typeface="Maven Pro SemiBold"/>
                <a:sym typeface="Maven Pro SemiBold"/>
              </a:rPr>
              <a:t>Modelling</a:t>
            </a:r>
            <a:endParaRPr sz="2820">
              <a:solidFill>
                <a:schemeClr val="dk1"/>
              </a:solidFill>
              <a:latin typeface="Maven Pro SemiBold"/>
              <a:ea typeface="Maven Pro SemiBold"/>
              <a:cs typeface="Maven Pro SemiBold"/>
              <a:sym typeface="Maven Pro SemiBold"/>
            </a:endParaRPr>
          </a:p>
        </p:txBody>
      </p:sp>
      <p:sp>
        <p:nvSpPr>
          <p:cNvPr id="146" name="Google Shape;146;g3ad0efc87e0_0_45"/>
          <p:cNvSpPr txBox="1"/>
          <p:nvPr/>
        </p:nvSpPr>
        <p:spPr>
          <a:xfrm>
            <a:off x="76197" y="87997"/>
            <a:ext cx="60819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000" b="1" i="0" u="none" strike="noStrike" cap="none">
                <a:solidFill>
                  <a:schemeClr val="dk1"/>
                </a:solidFill>
                <a:latin typeface="Inter"/>
                <a:ea typeface="Inter"/>
                <a:cs typeface="Inter"/>
                <a:sym typeface="Inter"/>
              </a:rPr>
              <a:t>Modelling</a:t>
            </a:r>
            <a:endParaRPr sz="1000" b="1" i="0" u="none" strike="noStrike" cap="none">
              <a:solidFill>
                <a:schemeClr val="dk1"/>
              </a:solidFill>
              <a:latin typeface="Inter"/>
              <a:ea typeface="Inter"/>
              <a:cs typeface="Inter"/>
              <a:sym typeface="Inter"/>
            </a:endParaRPr>
          </a:p>
        </p:txBody>
      </p:sp>
      <p:pic>
        <p:nvPicPr>
          <p:cNvPr id="147" name="Google Shape;147;g3ad0efc87e0_0_45"/>
          <p:cNvPicPr preferRelativeResize="0"/>
          <p:nvPr/>
        </p:nvPicPr>
        <p:blipFill rotWithShape="1">
          <a:blip r:embed="rId3">
            <a:alphaModFix/>
          </a:blip>
          <a:srcRect l="7725" t="6598" r="8120" b="6918"/>
          <a:stretch/>
        </p:blipFill>
        <p:spPr>
          <a:xfrm>
            <a:off x="403650" y="1291925"/>
            <a:ext cx="3046396" cy="35667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g3ad0efc87e0_0_53"/>
          <p:cNvSpPr txBox="1">
            <a:spLocks noGrp="1"/>
          </p:cNvSpPr>
          <p:nvPr>
            <p:ph type="body" idx="1"/>
          </p:nvPr>
        </p:nvSpPr>
        <p:spPr>
          <a:xfrm>
            <a:off x="579975" y="1492950"/>
            <a:ext cx="7530000" cy="356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900" b="1">
                <a:solidFill>
                  <a:schemeClr val="dk1"/>
                </a:solidFill>
                <a:latin typeface="Times New Roman"/>
                <a:ea typeface="Times New Roman"/>
                <a:cs typeface="Times New Roman"/>
                <a:sym typeface="Times New Roman"/>
              </a:rPr>
              <a:t>Metrik Evaluasi</a:t>
            </a:r>
            <a:r>
              <a:rPr lang="en" sz="1900">
                <a:solidFill>
                  <a:schemeClr val="dk1"/>
                </a:solidFill>
                <a:latin typeface="Times New Roman"/>
                <a:ea typeface="Times New Roman"/>
                <a:cs typeface="Times New Roman"/>
                <a:sym typeface="Times New Roman"/>
              </a:rPr>
              <a:t>:</a:t>
            </a:r>
            <a:endParaRPr sz="1900">
              <a:solidFill>
                <a:schemeClr val="dk1"/>
              </a:solidFill>
              <a:latin typeface="Times New Roman"/>
              <a:ea typeface="Times New Roman"/>
              <a:cs typeface="Times New Roman"/>
              <a:sym typeface="Times New Roman"/>
            </a:endParaRPr>
          </a:p>
          <a:p>
            <a:pPr marL="457200" lvl="0" indent="-349250" algn="l" rtl="0">
              <a:spcBef>
                <a:spcPts val="0"/>
              </a:spcBef>
              <a:spcAft>
                <a:spcPts val="0"/>
              </a:spcAft>
              <a:buClr>
                <a:srgbClr val="282828"/>
              </a:buClr>
              <a:buSzPts val="1900"/>
              <a:buFont typeface="Inter"/>
              <a:buChar char="-"/>
            </a:pPr>
            <a:r>
              <a:rPr lang="en" sz="1900" b="1">
                <a:solidFill>
                  <a:schemeClr val="dk1"/>
                </a:solidFill>
                <a:latin typeface="Times New Roman"/>
                <a:ea typeface="Times New Roman"/>
                <a:cs typeface="Times New Roman"/>
                <a:sym typeface="Times New Roman"/>
              </a:rPr>
              <a:t>R² (R-squared)</a:t>
            </a:r>
            <a:r>
              <a:rPr lang="en" sz="1900">
                <a:solidFill>
                  <a:schemeClr val="dk1"/>
                </a:solidFill>
                <a:latin typeface="Times New Roman"/>
                <a:ea typeface="Times New Roman"/>
                <a:cs typeface="Times New Roman"/>
                <a:sym typeface="Times New Roman"/>
              </a:rPr>
              <a:t> - Mengukur seberapa baik model menjelaskan variansi data</a:t>
            </a:r>
            <a:endParaRPr sz="1900">
              <a:solidFill>
                <a:schemeClr val="dk1"/>
              </a:solidFill>
              <a:latin typeface="Times New Roman"/>
              <a:ea typeface="Times New Roman"/>
              <a:cs typeface="Times New Roman"/>
              <a:sym typeface="Times New Roman"/>
            </a:endParaRPr>
          </a:p>
          <a:p>
            <a:pPr marL="457200" lvl="0" indent="-349250" algn="l" rtl="0">
              <a:spcBef>
                <a:spcPts val="0"/>
              </a:spcBef>
              <a:spcAft>
                <a:spcPts val="0"/>
              </a:spcAft>
              <a:buClr>
                <a:srgbClr val="282828"/>
              </a:buClr>
              <a:buSzPts val="1900"/>
              <a:buFont typeface="Inter"/>
              <a:buChar char="-"/>
            </a:pPr>
            <a:r>
              <a:rPr lang="en" sz="1900" b="1">
                <a:solidFill>
                  <a:schemeClr val="dk1"/>
                </a:solidFill>
                <a:latin typeface="Times New Roman"/>
                <a:ea typeface="Times New Roman"/>
                <a:cs typeface="Times New Roman"/>
                <a:sym typeface="Times New Roman"/>
              </a:rPr>
              <a:t>RMSE (Root Mean Squared Error)</a:t>
            </a:r>
            <a:r>
              <a:rPr lang="en" sz="1900">
                <a:solidFill>
                  <a:schemeClr val="dk1"/>
                </a:solidFill>
                <a:latin typeface="Times New Roman"/>
                <a:ea typeface="Times New Roman"/>
                <a:cs typeface="Times New Roman"/>
                <a:sym typeface="Times New Roman"/>
              </a:rPr>
              <a:t> - Mengukur rata-rata kesalahan prediksi dalam satuan aktual</a:t>
            </a:r>
            <a:endParaRPr sz="1900">
              <a:solidFill>
                <a:schemeClr val="dk1"/>
              </a:solidFill>
              <a:latin typeface="Times New Roman"/>
              <a:ea typeface="Times New Roman"/>
              <a:cs typeface="Times New Roman"/>
              <a:sym typeface="Times New Roman"/>
            </a:endParaRPr>
          </a:p>
          <a:p>
            <a:pPr marL="457200" lvl="0" indent="-349250" algn="l" rtl="0">
              <a:spcBef>
                <a:spcPts val="0"/>
              </a:spcBef>
              <a:spcAft>
                <a:spcPts val="0"/>
              </a:spcAft>
              <a:buClr>
                <a:srgbClr val="282828"/>
              </a:buClr>
              <a:buSzPts val="1900"/>
              <a:buFont typeface="Inter"/>
              <a:buChar char="-"/>
            </a:pPr>
            <a:r>
              <a:rPr lang="en" sz="1900" b="1">
                <a:solidFill>
                  <a:schemeClr val="dk1"/>
                </a:solidFill>
                <a:latin typeface="Times New Roman"/>
                <a:ea typeface="Times New Roman"/>
                <a:cs typeface="Times New Roman"/>
                <a:sym typeface="Times New Roman"/>
              </a:rPr>
              <a:t>MAE (Mean Absolute Error)</a:t>
            </a:r>
            <a:r>
              <a:rPr lang="en" sz="1900">
                <a:solidFill>
                  <a:schemeClr val="dk1"/>
                </a:solidFill>
                <a:latin typeface="Times New Roman"/>
                <a:ea typeface="Times New Roman"/>
                <a:cs typeface="Times New Roman"/>
                <a:sym typeface="Times New Roman"/>
              </a:rPr>
              <a:t> - Mengukur rata-rata kesalahan absolut</a:t>
            </a:r>
            <a:endParaRPr sz="1900">
              <a:solidFill>
                <a:schemeClr val="dk1"/>
              </a:solidFill>
              <a:latin typeface="Times New Roman"/>
              <a:ea typeface="Times New Roman"/>
              <a:cs typeface="Times New Roman"/>
              <a:sym typeface="Times New Roman"/>
            </a:endParaRPr>
          </a:p>
          <a:p>
            <a:pPr marL="457200" lvl="0" indent="-349250" algn="l" rtl="0">
              <a:spcBef>
                <a:spcPts val="0"/>
              </a:spcBef>
              <a:spcAft>
                <a:spcPts val="0"/>
              </a:spcAft>
              <a:buClr>
                <a:srgbClr val="282828"/>
              </a:buClr>
              <a:buSzPts val="1900"/>
              <a:buFont typeface="Inter"/>
              <a:buChar char="-"/>
            </a:pPr>
            <a:r>
              <a:rPr lang="en" sz="1900" b="1">
                <a:solidFill>
                  <a:schemeClr val="dk1"/>
                </a:solidFill>
                <a:latin typeface="Times New Roman"/>
                <a:ea typeface="Times New Roman"/>
                <a:cs typeface="Times New Roman"/>
                <a:sym typeface="Times New Roman"/>
              </a:rPr>
              <a:t>MSE (Mean Squared Error)</a:t>
            </a:r>
            <a:r>
              <a:rPr lang="en" sz="1900">
                <a:solidFill>
                  <a:schemeClr val="dk1"/>
                </a:solidFill>
                <a:latin typeface="Times New Roman"/>
                <a:ea typeface="Times New Roman"/>
                <a:cs typeface="Times New Roman"/>
                <a:sym typeface="Times New Roman"/>
              </a:rPr>
              <a:t> - Memberikan penalty lebih besar pada error yang besar</a:t>
            </a:r>
            <a:endParaRPr sz="1900">
              <a:solidFill>
                <a:schemeClr val="dk1"/>
              </a:solidFill>
              <a:latin typeface="Times New Roman"/>
              <a:ea typeface="Times New Roman"/>
              <a:cs typeface="Times New Roman"/>
              <a:sym typeface="Times New Roman"/>
            </a:endParaRPr>
          </a:p>
        </p:txBody>
      </p:sp>
      <p:sp>
        <p:nvSpPr>
          <p:cNvPr id="153" name="Google Shape;153;g3ad0efc87e0_0_53"/>
          <p:cNvSpPr txBox="1">
            <a:spLocks noGrp="1"/>
          </p:cNvSpPr>
          <p:nvPr>
            <p:ph type="title"/>
          </p:nvPr>
        </p:nvSpPr>
        <p:spPr>
          <a:xfrm>
            <a:off x="331800" y="550163"/>
            <a:ext cx="8480400" cy="8193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990"/>
              <a:buNone/>
            </a:pPr>
            <a:r>
              <a:rPr lang="en" sz="2820">
                <a:latin typeface="Maven Pro SemiBold"/>
                <a:ea typeface="Maven Pro SemiBold"/>
                <a:cs typeface="Maven Pro SemiBold"/>
                <a:sym typeface="Maven Pro SemiBold"/>
              </a:rPr>
              <a:t>Modelling</a:t>
            </a:r>
            <a:endParaRPr sz="2820">
              <a:solidFill>
                <a:schemeClr val="dk1"/>
              </a:solidFill>
              <a:latin typeface="Maven Pro SemiBold"/>
              <a:ea typeface="Maven Pro SemiBold"/>
              <a:cs typeface="Maven Pro SemiBold"/>
              <a:sym typeface="Maven Pro SemiBold"/>
            </a:endParaRPr>
          </a:p>
        </p:txBody>
      </p:sp>
      <p:sp>
        <p:nvSpPr>
          <p:cNvPr id="154" name="Google Shape;154;g3ad0efc87e0_0_53"/>
          <p:cNvSpPr txBox="1"/>
          <p:nvPr/>
        </p:nvSpPr>
        <p:spPr>
          <a:xfrm>
            <a:off x="76197" y="87997"/>
            <a:ext cx="60819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000" b="1" i="0" u="none" strike="noStrike" cap="none">
                <a:solidFill>
                  <a:schemeClr val="dk1"/>
                </a:solidFill>
                <a:latin typeface="Inter"/>
                <a:ea typeface="Inter"/>
                <a:cs typeface="Inter"/>
                <a:sym typeface="Inter"/>
              </a:rPr>
              <a:t>Modelling</a:t>
            </a:r>
            <a:endParaRPr sz="1000" b="1" i="0" u="none" strike="noStrike" cap="none">
              <a:solidFill>
                <a:schemeClr val="dk1"/>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g3ad0efc87e0_0_23"/>
          <p:cNvSpPr txBox="1">
            <a:spLocks noGrp="1"/>
          </p:cNvSpPr>
          <p:nvPr>
            <p:ph type="body" idx="1"/>
          </p:nvPr>
        </p:nvSpPr>
        <p:spPr>
          <a:xfrm>
            <a:off x="403650" y="1291925"/>
            <a:ext cx="3837000" cy="356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latin typeface="Times New Roman"/>
                <a:ea typeface="Times New Roman"/>
                <a:cs typeface="Times New Roman"/>
                <a:sym typeface="Times New Roman"/>
              </a:rPr>
              <a:t>Model Awal yang Diuji:</a:t>
            </a:r>
            <a:endParaRPr sz="1700">
              <a:solidFill>
                <a:schemeClr val="dk1"/>
              </a:solidFill>
              <a:latin typeface="Times New Roman"/>
              <a:ea typeface="Times New Roman"/>
              <a:cs typeface="Times New Roman"/>
              <a:sym typeface="Times New Roman"/>
            </a:endParaRPr>
          </a:p>
          <a:p>
            <a:pPr marL="457200" lvl="0" indent="-336550" algn="l" rtl="0">
              <a:spcBef>
                <a:spcPts val="0"/>
              </a:spcBef>
              <a:spcAft>
                <a:spcPts val="0"/>
              </a:spcAft>
              <a:buClr>
                <a:schemeClr val="dk1"/>
              </a:buClr>
              <a:buSzPts val="1700"/>
              <a:buFont typeface="Inter"/>
              <a:buAutoNum type="arabicPeriod"/>
            </a:pPr>
            <a:r>
              <a:rPr lang="en" sz="1700" b="1">
                <a:solidFill>
                  <a:schemeClr val="dk1"/>
                </a:solidFill>
                <a:latin typeface="Times New Roman"/>
                <a:ea typeface="Times New Roman"/>
                <a:cs typeface="Times New Roman"/>
                <a:sym typeface="Times New Roman"/>
              </a:rPr>
              <a:t>Linear Regression</a:t>
            </a:r>
            <a:r>
              <a:rPr lang="en" sz="1700">
                <a:solidFill>
                  <a:schemeClr val="dk1"/>
                </a:solidFill>
                <a:latin typeface="Times New Roman"/>
                <a:ea typeface="Times New Roman"/>
                <a:cs typeface="Times New Roman"/>
                <a:sym typeface="Times New Roman"/>
              </a:rPr>
              <a:t> - Model baseline sederhana untuk interpretasi linier</a:t>
            </a:r>
            <a:endParaRPr sz="1700">
              <a:solidFill>
                <a:schemeClr val="dk1"/>
              </a:solidFill>
              <a:latin typeface="Times New Roman"/>
              <a:ea typeface="Times New Roman"/>
              <a:cs typeface="Times New Roman"/>
              <a:sym typeface="Times New Roman"/>
            </a:endParaRPr>
          </a:p>
          <a:p>
            <a:pPr marL="457200" lvl="0" indent="-336550" algn="l" rtl="0">
              <a:spcBef>
                <a:spcPts val="0"/>
              </a:spcBef>
              <a:spcAft>
                <a:spcPts val="0"/>
              </a:spcAft>
              <a:buClr>
                <a:schemeClr val="dk1"/>
              </a:buClr>
              <a:buSzPts val="1700"/>
              <a:buFont typeface="Inter"/>
              <a:buAutoNum type="arabicPeriod"/>
            </a:pPr>
            <a:r>
              <a:rPr lang="en" sz="1700" b="1">
                <a:solidFill>
                  <a:schemeClr val="dk1"/>
                </a:solidFill>
                <a:latin typeface="Times New Roman"/>
                <a:ea typeface="Times New Roman"/>
                <a:cs typeface="Times New Roman"/>
                <a:sym typeface="Times New Roman"/>
              </a:rPr>
              <a:t>Random Forest Regressor</a:t>
            </a:r>
            <a:r>
              <a:rPr lang="en" sz="1700">
                <a:solidFill>
                  <a:schemeClr val="dk1"/>
                </a:solidFill>
                <a:latin typeface="Times New Roman"/>
                <a:ea typeface="Times New Roman"/>
                <a:cs typeface="Times New Roman"/>
                <a:sym typeface="Times New Roman"/>
              </a:rPr>
              <a:t> - Ensemble method dengan 200 decision trees</a:t>
            </a:r>
            <a:endParaRPr sz="1700">
              <a:solidFill>
                <a:schemeClr val="dk1"/>
              </a:solidFill>
              <a:latin typeface="Times New Roman"/>
              <a:ea typeface="Times New Roman"/>
              <a:cs typeface="Times New Roman"/>
              <a:sym typeface="Times New Roman"/>
            </a:endParaRPr>
          </a:p>
          <a:p>
            <a:pPr marL="457200" lvl="0" indent="-336550" algn="l" rtl="0">
              <a:spcBef>
                <a:spcPts val="0"/>
              </a:spcBef>
              <a:spcAft>
                <a:spcPts val="0"/>
              </a:spcAft>
              <a:buClr>
                <a:schemeClr val="dk1"/>
              </a:buClr>
              <a:buSzPts val="1700"/>
              <a:buFont typeface="Inter"/>
              <a:buAutoNum type="arabicPeriod"/>
            </a:pPr>
            <a:r>
              <a:rPr lang="en" sz="1700" b="1">
                <a:solidFill>
                  <a:schemeClr val="dk1"/>
                </a:solidFill>
                <a:latin typeface="Times New Roman"/>
                <a:ea typeface="Times New Roman"/>
                <a:cs typeface="Times New Roman"/>
                <a:sym typeface="Times New Roman"/>
              </a:rPr>
              <a:t>Gradient Boosting Regressor</a:t>
            </a:r>
            <a:r>
              <a:rPr lang="en" sz="1700">
                <a:solidFill>
                  <a:schemeClr val="dk1"/>
                </a:solidFill>
                <a:latin typeface="Times New Roman"/>
                <a:ea typeface="Times New Roman"/>
                <a:cs typeface="Times New Roman"/>
                <a:sym typeface="Times New Roman"/>
              </a:rPr>
              <a:t> - Sequential building dengan 100 estimators</a:t>
            </a:r>
            <a:endParaRPr sz="1700">
              <a:solidFill>
                <a:schemeClr val="dk1"/>
              </a:solidFill>
              <a:latin typeface="Times New Roman"/>
              <a:ea typeface="Times New Roman"/>
              <a:cs typeface="Times New Roman"/>
              <a:sym typeface="Times New Roman"/>
            </a:endParaRPr>
          </a:p>
          <a:p>
            <a:pPr marL="457200" lvl="0" indent="-336550" algn="l" rtl="0">
              <a:spcBef>
                <a:spcPts val="0"/>
              </a:spcBef>
              <a:spcAft>
                <a:spcPts val="0"/>
              </a:spcAft>
              <a:buClr>
                <a:schemeClr val="dk1"/>
              </a:buClr>
              <a:buSzPts val="1700"/>
              <a:buFont typeface="Inter"/>
              <a:buAutoNum type="arabicPeriod"/>
            </a:pPr>
            <a:r>
              <a:rPr lang="en" sz="1700" b="1">
                <a:solidFill>
                  <a:schemeClr val="dk1"/>
                </a:solidFill>
                <a:latin typeface="Times New Roman"/>
                <a:ea typeface="Times New Roman"/>
                <a:cs typeface="Times New Roman"/>
                <a:sym typeface="Times New Roman"/>
              </a:rPr>
              <a:t>KNN Regressor</a:t>
            </a:r>
            <a:r>
              <a:rPr lang="en" sz="1700">
                <a:solidFill>
                  <a:schemeClr val="dk1"/>
                </a:solidFill>
                <a:latin typeface="Times New Roman"/>
                <a:ea typeface="Times New Roman"/>
                <a:cs typeface="Times New Roman"/>
                <a:sym typeface="Times New Roman"/>
              </a:rPr>
              <a:t> - Distance-based algorithm dengan 5 neighbors awal</a:t>
            </a:r>
            <a:endParaRPr sz="1700">
              <a:solidFill>
                <a:schemeClr val="dk1"/>
              </a:solidFill>
              <a:latin typeface="Times New Roman"/>
              <a:ea typeface="Times New Roman"/>
              <a:cs typeface="Times New Roman"/>
              <a:sym typeface="Times New Roman"/>
            </a:endParaRPr>
          </a:p>
        </p:txBody>
      </p:sp>
      <p:sp>
        <p:nvSpPr>
          <p:cNvPr id="160" name="Google Shape;160;g3ad0efc87e0_0_23"/>
          <p:cNvSpPr txBox="1">
            <a:spLocks noGrp="1"/>
          </p:cNvSpPr>
          <p:nvPr>
            <p:ph type="title"/>
          </p:nvPr>
        </p:nvSpPr>
        <p:spPr>
          <a:xfrm>
            <a:off x="331800" y="550163"/>
            <a:ext cx="8480400" cy="8193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990"/>
              <a:buNone/>
            </a:pPr>
            <a:r>
              <a:rPr lang="en" sz="2820">
                <a:latin typeface="Maven Pro SemiBold"/>
                <a:ea typeface="Maven Pro SemiBold"/>
                <a:cs typeface="Maven Pro SemiBold"/>
                <a:sym typeface="Maven Pro SemiBold"/>
              </a:rPr>
              <a:t>Modelling</a:t>
            </a:r>
            <a:endParaRPr sz="2820">
              <a:solidFill>
                <a:schemeClr val="dk1"/>
              </a:solidFill>
              <a:latin typeface="Maven Pro SemiBold"/>
              <a:ea typeface="Maven Pro SemiBold"/>
              <a:cs typeface="Maven Pro SemiBold"/>
              <a:sym typeface="Maven Pro SemiBold"/>
            </a:endParaRPr>
          </a:p>
        </p:txBody>
      </p:sp>
      <p:sp>
        <p:nvSpPr>
          <p:cNvPr id="161" name="Google Shape;161;g3ad0efc87e0_0_23"/>
          <p:cNvSpPr txBox="1"/>
          <p:nvPr/>
        </p:nvSpPr>
        <p:spPr>
          <a:xfrm>
            <a:off x="76197" y="87997"/>
            <a:ext cx="60819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000" b="1" i="0" u="none" strike="noStrike" cap="none">
                <a:solidFill>
                  <a:schemeClr val="dk1"/>
                </a:solidFill>
                <a:latin typeface="Inter"/>
                <a:ea typeface="Inter"/>
                <a:cs typeface="Inter"/>
                <a:sym typeface="Inter"/>
              </a:rPr>
              <a:t>Modelling</a:t>
            </a:r>
            <a:endParaRPr sz="1000" b="1" i="0" u="none" strike="noStrike" cap="none">
              <a:solidFill>
                <a:schemeClr val="dk1"/>
              </a:solidFill>
              <a:latin typeface="Inter"/>
              <a:ea typeface="Inter"/>
              <a:cs typeface="Inter"/>
              <a:sym typeface="Inter"/>
            </a:endParaRPr>
          </a:p>
        </p:txBody>
      </p:sp>
      <p:pic>
        <p:nvPicPr>
          <p:cNvPr id="162" name="Google Shape;162;g3ad0efc87e0_0_23"/>
          <p:cNvPicPr preferRelativeResize="0"/>
          <p:nvPr/>
        </p:nvPicPr>
        <p:blipFill rotWithShape="1">
          <a:blip r:embed="rId3">
            <a:alphaModFix/>
          </a:blip>
          <a:srcRect l="5487" t="17135" r="5567" b="16931"/>
          <a:stretch/>
        </p:blipFill>
        <p:spPr>
          <a:xfrm>
            <a:off x="4331775" y="1201675"/>
            <a:ext cx="4664099" cy="1226701"/>
          </a:xfrm>
          <a:prstGeom prst="rect">
            <a:avLst/>
          </a:prstGeom>
          <a:noFill/>
          <a:ln>
            <a:noFill/>
          </a:ln>
        </p:spPr>
      </p:pic>
      <p:pic>
        <p:nvPicPr>
          <p:cNvPr id="163" name="Google Shape;163;g3ad0efc87e0_0_23"/>
          <p:cNvPicPr preferRelativeResize="0"/>
          <p:nvPr/>
        </p:nvPicPr>
        <p:blipFill rotWithShape="1">
          <a:blip r:embed="rId4">
            <a:alphaModFix/>
          </a:blip>
          <a:srcRect l="8247" t="8706" r="7768" b="8457"/>
          <a:stretch/>
        </p:blipFill>
        <p:spPr>
          <a:xfrm>
            <a:off x="5196075" y="2571750"/>
            <a:ext cx="2353775" cy="22213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3ad0efc87e0_0_63"/>
          <p:cNvSpPr txBox="1">
            <a:spLocks noGrp="1"/>
          </p:cNvSpPr>
          <p:nvPr>
            <p:ph type="body" idx="1"/>
          </p:nvPr>
        </p:nvSpPr>
        <p:spPr>
          <a:xfrm>
            <a:off x="403650" y="1291925"/>
            <a:ext cx="4267200" cy="356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a:solidFill>
                  <a:schemeClr val="dk1"/>
                </a:solidFill>
                <a:latin typeface="Times New Roman"/>
                <a:ea typeface="Times New Roman"/>
                <a:cs typeface="Times New Roman"/>
                <a:sym typeface="Times New Roman"/>
              </a:rPr>
              <a:t>Upaya Meningkatkan Akurasi</a:t>
            </a:r>
            <a:r>
              <a:rPr lang="en" sz="2000">
                <a:solidFill>
                  <a:schemeClr val="dk1"/>
                </a:solidFill>
                <a:latin typeface="Times New Roman"/>
                <a:ea typeface="Times New Roman"/>
                <a:cs typeface="Times New Roman"/>
                <a:sym typeface="Times New Roman"/>
              </a:rPr>
              <a:t>:</a:t>
            </a:r>
            <a:endParaRPr sz="2000">
              <a:solidFill>
                <a:schemeClr val="dk1"/>
              </a:solidFill>
              <a:latin typeface="Times New Roman"/>
              <a:ea typeface="Times New Roman"/>
              <a:cs typeface="Times New Roman"/>
              <a:sym typeface="Times New Roman"/>
            </a:endParaRPr>
          </a:p>
          <a:p>
            <a:pPr marL="457200" lvl="0" indent="-355600" algn="l" rtl="0">
              <a:spcBef>
                <a:spcPts val="0"/>
              </a:spcBef>
              <a:spcAft>
                <a:spcPts val="0"/>
              </a:spcAft>
              <a:buClr>
                <a:srgbClr val="282828"/>
              </a:buClr>
              <a:buSzPts val="2000"/>
              <a:buFont typeface="Times New Roman"/>
              <a:buChar char="-"/>
            </a:pPr>
            <a:r>
              <a:rPr lang="en" sz="2000" b="1">
                <a:solidFill>
                  <a:schemeClr val="dk1"/>
                </a:solidFill>
                <a:latin typeface="Times New Roman"/>
                <a:ea typeface="Times New Roman"/>
                <a:cs typeface="Times New Roman"/>
                <a:sym typeface="Times New Roman"/>
              </a:rPr>
              <a:t>Randomized Search CV</a:t>
            </a:r>
            <a:r>
              <a:rPr lang="en" sz="2000">
                <a:solidFill>
                  <a:schemeClr val="dk1"/>
                </a:solidFill>
                <a:latin typeface="Times New Roman"/>
                <a:ea typeface="Times New Roman"/>
                <a:cs typeface="Times New Roman"/>
                <a:sym typeface="Times New Roman"/>
              </a:rPr>
              <a:t> untuk menemukan parameter optimal secara efisien</a:t>
            </a:r>
            <a:endParaRPr sz="2000">
              <a:solidFill>
                <a:schemeClr val="dk1"/>
              </a:solidFill>
              <a:latin typeface="Times New Roman"/>
              <a:ea typeface="Times New Roman"/>
              <a:cs typeface="Times New Roman"/>
              <a:sym typeface="Times New Roman"/>
            </a:endParaRPr>
          </a:p>
          <a:p>
            <a:pPr marL="457200" lvl="0" indent="-355600" algn="l" rtl="0">
              <a:spcBef>
                <a:spcPts val="0"/>
              </a:spcBef>
              <a:spcAft>
                <a:spcPts val="0"/>
              </a:spcAft>
              <a:buClr>
                <a:srgbClr val="282828"/>
              </a:buClr>
              <a:buSzPts val="2000"/>
              <a:buFont typeface="Times New Roman"/>
              <a:buChar char="-"/>
            </a:pPr>
            <a:r>
              <a:rPr lang="en" sz="2000" b="1">
                <a:solidFill>
                  <a:schemeClr val="dk1"/>
                </a:solidFill>
                <a:latin typeface="Times New Roman"/>
                <a:ea typeface="Times New Roman"/>
                <a:cs typeface="Times New Roman"/>
                <a:sym typeface="Times New Roman"/>
              </a:rPr>
              <a:t>Hyperparameter Tuning</a:t>
            </a:r>
            <a:r>
              <a:rPr lang="en" sz="2000">
                <a:solidFill>
                  <a:schemeClr val="dk1"/>
                </a:solidFill>
                <a:latin typeface="Times New Roman"/>
                <a:ea typeface="Times New Roman"/>
                <a:cs typeface="Times New Roman"/>
                <a:sym typeface="Times New Roman"/>
              </a:rPr>
              <a:t> pada setiap model dengan parameter ranges berbeda</a:t>
            </a:r>
            <a:endParaRPr sz="2000">
              <a:solidFill>
                <a:schemeClr val="dk1"/>
              </a:solidFill>
              <a:latin typeface="Times New Roman"/>
              <a:ea typeface="Times New Roman"/>
              <a:cs typeface="Times New Roman"/>
              <a:sym typeface="Times New Roman"/>
            </a:endParaRPr>
          </a:p>
          <a:p>
            <a:pPr marL="457200" lvl="0" indent="-355600" algn="l" rtl="0">
              <a:spcBef>
                <a:spcPts val="0"/>
              </a:spcBef>
              <a:spcAft>
                <a:spcPts val="0"/>
              </a:spcAft>
              <a:buClr>
                <a:srgbClr val="282828"/>
              </a:buClr>
              <a:buSzPts val="2000"/>
              <a:buFont typeface="Times New Roman"/>
              <a:buChar char="-"/>
            </a:pPr>
            <a:r>
              <a:rPr lang="en" sz="2000" b="1">
                <a:solidFill>
                  <a:schemeClr val="dk1"/>
                </a:solidFill>
                <a:latin typeface="Times New Roman"/>
                <a:ea typeface="Times New Roman"/>
                <a:cs typeface="Times New Roman"/>
                <a:sym typeface="Times New Roman"/>
              </a:rPr>
              <a:t>Cross Validation</a:t>
            </a:r>
            <a:r>
              <a:rPr lang="en" sz="2000">
                <a:solidFill>
                  <a:schemeClr val="dk1"/>
                </a:solidFill>
                <a:latin typeface="Times New Roman"/>
                <a:ea typeface="Times New Roman"/>
                <a:cs typeface="Times New Roman"/>
                <a:sym typeface="Times New Roman"/>
              </a:rPr>
              <a:t> untuk memastikan generalisasi yang baik</a:t>
            </a:r>
            <a:endParaRPr sz="2000">
              <a:solidFill>
                <a:schemeClr val="dk1"/>
              </a:solidFill>
              <a:latin typeface="Times New Roman"/>
              <a:ea typeface="Times New Roman"/>
              <a:cs typeface="Times New Roman"/>
              <a:sym typeface="Times New Roman"/>
            </a:endParaRPr>
          </a:p>
        </p:txBody>
      </p:sp>
      <p:sp>
        <p:nvSpPr>
          <p:cNvPr id="169" name="Google Shape;169;g3ad0efc87e0_0_63"/>
          <p:cNvSpPr txBox="1">
            <a:spLocks noGrp="1"/>
          </p:cNvSpPr>
          <p:nvPr>
            <p:ph type="title"/>
          </p:nvPr>
        </p:nvSpPr>
        <p:spPr>
          <a:xfrm>
            <a:off x="331800" y="550163"/>
            <a:ext cx="8480400" cy="8193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990"/>
              <a:buNone/>
            </a:pPr>
            <a:r>
              <a:rPr lang="en" sz="2820">
                <a:latin typeface="Maven Pro SemiBold"/>
                <a:ea typeface="Maven Pro SemiBold"/>
                <a:cs typeface="Maven Pro SemiBold"/>
                <a:sym typeface="Maven Pro SemiBold"/>
              </a:rPr>
              <a:t>Modelling</a:t>
            </a:r>
            <a:endParaRPr sz="2820">
              <a:solidFill>
                <a:schemeClr val="dk1"/>
              </a:solidFill>
              <a:latin typeface="Maven Pro SemiBold"/>
              <a:ea typeface="Maven Pro SemiBold"/>
              <a:cs typeface="Maven Pro SemiBold"/>
              <a:sym typeface="Maven Pro SemiBold"/>
            </a:endParaRPr>
          </a:p>
        </p:txBody>
      </p:sp>
      <p:sp>
        <p:nvSpPr>
          <p:cNvPr id="170" name="Google Shape;170;g3ad0efc87e0_0_63"/>
          <p:cNvSpPr txBox="1"/>
          <p:nvPr/>
        </p:nvSpPr>
        <p:spPr>
          <a:xfrm>
            <a:off x="76197" y="87997"/>
            <a:ext cx="60819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000" b="1" i="0" u="none" strike="noStrike" cap="none">
                <a:solidFill>
                  <a:schemeClr val="dk1"/>
                </a:solidFill>
                <a:latin typeface="Inter"/>
                <a:ea typeface="Inter"/>
                <a:cs typeface="Inter"/>
                <a:sym typeface="Inter"/>
              </a:rPr>
              <a:t>Modelling</a:t>
            </a:r>
            <a:endParaRPr sz="1000" b="1" i="0" u="none" strike="noStrike" cap="none">
              <a:solidFill>
                <a:schemeClr val="dk1"/>
              </a:solidFill>
              <a:latin typeface="Inter"/>
              <a:ea typeface="Inter"/>
              <a:cs typeface="Inter"/>
              <a:sym typeface="Inter"/>
            </a:endParaRPr>
          </a:p>
        </p:txBody>
      </p:sp>
      <p:pic>
        <p:nvPicPr>
          <p:cNvPr id="171" name="Google Shape;171;g3ad0efc87e0_0_63"/>
          <p:cNvPicPr preferRelativeResize="0"/>
          <p:nvPr/>
        </p:nvPicPr>
        <p:blipFill rotWithShape="1">
          <a:blip r:embed="rId3">
            <a:alphaModFix/>
          </a:blip>
          <a:srcRect l="8449" t="7303" r="7896" b="6874"/>
          <a:stretch/>
        </p:blipFill>
        <p:spPr>
          <a:xfrm>
            <a:off x="5257050" y="771925"/>
            <a:ext cx="3049849" cy="37596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d0efc87e0_0_30"/>
          <p:cNvSpPr txBox="1">
            <a:spLocks noGrp="1"/>
          </p:cNvSpPr>
          <p:nvPr>
            <p:ph type="body" idx="1"/>
          </p:nvPr>
        </p:nvSpPr>
        <p:spPr>
          <a:xfrm>
            <a:off x="191000" y="1063775"/>
            <a:ext cx="4671000" cy="35667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 sz="1700">
                <a:solidFill>
                  <a:schemeClr val="dk1"/>
                </a:solidFill>
                <a:latin typeface="Times New Roman"/>
                <a:ea typeface="Times New Roman"/>
                <a:cs typeface="Times New Roman"/>
                <a:sym typeface="Times New Roman"/>
              </a:rPr>
              <a:t>Model Final Terpilih: </a:t>
            </a:r>
            <a:r>
              <a:rPr lang="en" sz="1700" b="1">
                <a:solidFill>
                  <a:schemeClr val="dk1"/>
                </a:solidFill>
                <a:latin typeface="Times New Roman"/>
                <a:ea typeface="Times New Roman"/>
                <a:cs typeface="Times New Roman"/>
                <a:sym typeface="Times New Roman"/>
              </a:rPr>
              <a:t>Gradient Boosting Regressor</a:t>
            </a:r>
            <a:endParaRPr sz="1700" b="1">
              <a:solidFill>
                <a:schemeClr val="dk1"/>
              </a:solidFill>
              <a:latin typeface="Times New Roman"/>
              <a:ea typeface="Times New Roman"/>
              <a:cs typeface="Times New Roman"/>
              <a:sym typeface="Times New Roman"/>
            </a:endParaRPr>
          </a:p>
          <a:p>
            <a:pPr marL="457200" lvl="0" indent="-336550" algn="just" rtl="0">
              <a:spcBef>
                <a:spcPts val="0"/>
              </a:spcBef>
              <a:spcAft>
                <a:spcPts val="0"/>
              </a:spcAft>
              <a:buClr>
                <a:srgbClr val="282828"/>
              </a:buClr>
              <a:buSzPts val="1700"/>
              <a:buFont typeface="Times New Roman"/>
              <a:buChar char="-"/>
            </a:pPr>
            <a:r>
              <a:rPr lang="en" sz="1700">
                <a:solidFill>
                  <a:schemeClr val="dk1"/>
                </a:solidFill>
                <a:latin typeface="Times New Roman"/>
                <a:ea typeface="Times New Roman"/>
                <a:cs typeface="Times New Roman"/>
                <a:sym typeface="Times New Roman"/>
              </a:rPr>
              <a:t>Performa terbaik dengan R² = 0.7469 (menjelaskan 74.69% variansi data)</a:t>
            </a:r>
            <a:endParaRPr sz="1700">
              <a:solidFill>
                <a:schemeClr val="dk1"/>
              </a:solidFill>
              <a:latin typeface="Times New Roman"/>
              <a:ea typeface="Times New Roman"/>
              <a:cs typeface="Times New Roman"/>
              <a:sym typeface="Times New Roman"/>
            </a:endParaRPr>
          </a:p>
          <a:p>
            <a:pPr marL="457200" lvl="0" indent="-336550" algn="just" rtl="0">
              <a:spcBef>
                <a:spcPts val="0"/>
              </a:spcBef>
              <a:spcAft>
                <a:spcPts val="0"/>
              </a:spcAft>
              <a:buClr>
                <a:srgbClr val="282828"/>
              </a:buClr>
              <a:buSzPts val="1700"/>
              <a:buFont typeface="Times New Roman"/>
              <a:buChar char="-"/>
            </a:pPr>
            <a:r>
              <a:rPr lang="en" sz="1700">
                <a:solidFill>
                  <a:schemeClr val="dk1"/>
                </a:solidFill>
                <a:latin typeface="Times New Roman"/>
                <a:ea typeface="Times New Roman"/>
                <a:cs typeface="Times New Roman"/>
                <a:sym typeface="Times New Roman"/>
              </a:rPr>
              <a:t>RMSE terendah sebesar 4.914.31</a:t>
            </a:r>
            <a:endParaRPr sz="1700">
              <a:solidFill>
                <a:schemeClr val="dk1"/>
              </a:solidFill>
              <a:latin typeface="Times New Roman"/>
              <a:ea typeface="Times New Roman"/>
              <a:cs typeface="Times New Roman"/>
              <a:sym typeface="Times New Roman"/>
            </a:endParaRPr>
          </a:p>
          <a:p>
            <a:pPr marL="457200" lvl="0" indent="-336550" algn="just" rtl="0">
              <a:spcBef>
                <a:spcPts val="0"/>
              </a:spcBef>
              <a:spcAft>
                <a:spcPts val="0"/>
              </a:spcAft>
              <a:buClr>
                <a:srgbClr val="282828"/>
              </a:buClr>
              <a:buSzPts val="1700"/>
              <a:buFont typeface="Times New Roman"/>
              <a:buChar char="-"/>
            </a:pPr>
            <a:r>
              <a:rPr lang="en" sz="1700">
                <a:solidFill>
                  <a:schemeClr val="dk1"/>
                </a:solidFill>
                <a:latin typeface="Times New Roman"/>
                <a:ea typeface="Times New Roman"/>
                <a:cs typeface="Times New Roman"/>
                <a:sym typeface="Times New Roman"/>
              </a:rPr>
              <a:t>Konsisten performa tinggi sebelum dan sesudah tuning</a:t>
            </a:r>
            <a:endParaRPr sz="1700">
              <a:solidFill>
                <a:schemeClr val="dk1"/>
              </a:solidFill>
              <a:latin typeface="Times New Roman"/>
              <a:ea typeface="Times New Roman"/>
              <a:cs typeface="Times New Roman"/>
              <a:sym typeface="Times New Roman"/>
            </a:endParaRPr>
          </a:p>
          <a:p>
            <a:pPr marL="0" lvl="0" indent="0" algn="just" rtl="0">
              <a:spcBef>
                <a:spcPts val="0"/>
              </a:spcBef>
              <a:spcAft>
                <a:spcPts val="0"/>
              </a:spcAft>
              <a:buNone/>
            </a:pPr>
            <a:endParaRPr sz="1700">
              <a:solidFill>
                <a:schemeClr val="dk1"/>
              </a:solidFill>
              <a:latin typeface="Times New Roman"/>
              <a:ea typeface="Times New Roman"/>
              <a:cs typeface="Times New Roman"/>
              <a:sym typeface="Times New Roman"/>
            </a:endParaRPr>
          </a:p>
          <a:p>
            <a:pPr marL="0" lvl="0" indent="0" algn="just" rtl="0">
              <a:spcBef>
                <a:spcPts val="0"/>
              </a:spcBef>
              <a:spcAft>
                <a:spcPts val="0"/>
              </a:spcAft>
              <a:buNone/>
            </a:pPr>
            <a:r>
              <a:rPr lang="en" sz="1700">
                <a:solidFill>
                  <a:schemeClr val="dk1"/>
                </a:solidFill>
                <a:latin typeface="Times New Roman"/>
                <a:ea typeface="Times New Roman"/>
                <a:cs typeface="Times New Roman"/>
                <a:sym typeface="Times New Roman"/>
              </a:rPr>
              <a:t>Variabel untuk Model Final:</a:t>
            </a:r>
            <a:endParaRPr sz="1700">
              <a:solidFill>
                <a:schemeClr val="dk1"/>
              </a:solidFill>
              <a:latin typeface="Times New Roman"/>
              <a:ea typeface="Times New Roman"/>
              <a:cs typeface="Times New Roman"/>
              <a:sym typeface="Times New Roman"/>
            </a:endParaRPr>
          </a:p>
          <a:p>
            <a:pPr marL="457200" lvl="0" indent="-336550" algn="just" rtl="0">
              <a:spcBef>
                <a:spcPts val="0"/>
              </a:spcBef>
              <a:spcAft>
                <a:spcPts val="0"/>
              </a:spcAft>
              <a:buClr>
                <a:srgbClr val="282828"/>
              </a:buClr>
              <a:buSzPts val="1700"/>
              <a:buFont typeface="Times New Roman"/>
              <a:buChar char="-"/>
            </a:pPr>
            <a:r>
              <a:rPr lang="en" sz="1700">
                <a:solidFill>
                  <a:schemeClr val="dk1"/>
                </a:solidFill>
                <a:latin typeface="Times New Roman"/>
                <a:ea typeface="Times New Roman"/>
                <a:cs typeface="Times New Roman"/>
                <a:sym typeface="Times New Roman"/>
              </a:rPr>
              <a:t>Target Variable: charges (biaya asuransi)</a:t>
            </a:r>
            <a:endParaRPr sz="1700">
              <a:solidFill>
                <a:schemeClr val="dk1"/>
              </a:solidFill>
              <a:latin typeface="Times New Roman"/>
              <a:ea typeface="Times New Roman"/>
              <a:cs typeface="Times New Roman"/>
              <a:sym typeface="Times New Roman"/>
            </a:endParaRPr>
          </a:p>
          <a:p>
            <a:pPr marL="457200" lvl="0" indent="-336550" algn="just" rtl="0">
              <a:spcBef>
                <a:spcPts val="0"/>
              </a:spcBef>
              <a:spcAft>
                <a:spcPts val="0"/>
              </a:spcAft>
              <a:buClr>
                <a:srgbClr val="282828"/>
              </a:buClr>
              <a:buSzPts val="1700"/>
              <a:buFont typeface="Times New Roman"/>
              <a:buChar char="-"/>
            </a:pPr>
            <a:r>
              <a:rPr lang="en" sz="1700">
                <a:solidFill>
                  <a:schemeClr val="dk1"/>
                </a:solidFill>
                <a:latin typeface="Times New Roman"/>
                <a:ea typeface="Times New Roman"/>
                <a:cs typeface="Times New Roman"/>
                <a:sym typeface="Times New Roman"/>
              </a:rPr>
              <a:t>Prediktor: age, bmi, children, smoker_num, gender_num, southwest, southeast, northwest, northeast</a:t>
            </a:r>
            <a:endParaRPr sz="1700">
              <a:solidFill>
                <a:schemeClr val="dk1"/>
              </a:solidFill>
              <a:latin typeface="Times New Roman"/>
              <a:ea typeface="Times New Roman"/>
              <a:cs typeface="Times New Roman"/>
              <a:sym typeface="Times New Roman"/>
            </a:endParaRPr>
          </a:p>
        </p:txBody>
      </p:sp>
      <p:sp>
        <p:nvSpPr>
          <p:cNvPr id="177" name="Google Shape;177;g3ad0efc87e0_0_30"/>
          <p:cNvSpPr txBox="1">
            <a:spLocks noGrp="1"/>
          </p:cNvSpPr>
          <p:nvPr>
            <p:ph type="title"/>
          </p:nvPr>
        </p:nvSpPr>
        <p:spPr>
          <a:xfrm>
            <a:off x="331800" y="277613"/>
            <a:ext cx="8480400" cy="8193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990"/>
              <a:buNone/>
            </a:pPr>
            <a:r>
              <a:rPr lang="en" sz="2820">
                <a:latin typeface="Maven Pro SemiBold"/>
                <a:ea typeface="Maven Pro SemiBold"/>
                <a:cs typeface="Maven Pro SemiBold"/>
                <a:sym typeface="Maven Pro SemiBold"/>
              </a:rPr>
              <a:t>Modelling</a:t>
            </a:r>
            <a:endParaRPr sz="2820">
              <a:solidFill>
                <a:schemeClr val="dk1"/>
              </a:solidFill>
              <a:latin typeface="Maven Pro SemiBold"/>
              <a:ea typeface="Maven Pro SemiBold"/>
              <a:cs typeface="Maven Pro SemiBold"/>
              <a:sym typeface="Maven Pro SemiBold"/>
            </a:endParaRPr>
          </a:p>
        </p:txBody>
      </p:sp>
      <p:sp>
        <p:nvSpPr>
          <p:cNvPr id="178" name="Google Shape;178;g3ad0efc87e0_0_30"/>
          <p:cNvSpPr txBox="1"/>
          <p:nvPr/>
        </p:nvSpPr>
        <p:spPr>
          <a:xfrm>
            <a:off x="76197" y="87997"/>
            <a:ext cx="60819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000" b="1" i="0" u="none" strike="noStrike" cap="none">
                <a:solidFill>
                  <a:schemeClr val="dk1"/>
                </a:solidFill>
                <a:latin typeface="Inter"/>
                <a:ea typeface="Inter"/>
                <a:cs typeface="Inter"/>
                <a:sym typeface="Inter"/>
              </a:rPr>
              <a:t>Modelling</a:t>
            </a:r>
            <a:endParaRPr sz="1000" b="1" i="0" u="none" strike="noStrike" cap="none">
              <a:solidFill>
                <a:schemeClr val="dk1"/>
              </a:solidFill>
              <a:latin typeface="Inter"/>
              <a:ea typeface="Inter"/>
              <a:cs typeface="Inter"/>
              <a:sym typeface="Inter"/>
            </a:endParaRPr>
          </a:p>
        </p:txBody>
      </p:sp>
      <p:pic>
        <p:nvPicPr>
          <p:cNvPr id="179" name="Google Shape;179;g3ad0efc87e0_0_30" title="Screenshot 2025-12-03 at 21.23.23.png"/>
          <p:cNvPicPr preferRelativeResize="0"/>
          <p:nvPr/>
        </p:nvPicPr>
        <p:blipFill>
          <a:blip r:embed="rId3">
            <a:alphaModFix/>
          </a:blip>
          <a:stretch>
            <a:fillRect/>
          </a:stretch>
        </p:blipFill>
        <p:spPr>
          <a:xfrm>
            <a:off x="5110550" y="1857838"/>
            <a:ext cx="3790649" cy="14278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4"/>
          <p:cNvSpPr txBox="1">
            <a:spLocks noGrp="1"/>
          </p:cNvSpPr>
          <p:nvPr>
            <p:ph type="title"/>
          </p:nvPr>
        </p:nvSpPr>
        <p:spPr>
          <a:xfrm>
            <a:off x="537425" y="1457350"/>
            <a:ext cx="5455500" cy="17835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600">
                <a:solidFill>
                  <a:schemeClr val="dk1"/>
                </a:solidFill>
                <a:latin typeface="Maven Pro SemiBold"/>
                <a:ea typeface="Maven Pro SemiBold"/>
                <a:cs typeface="Maven Pro SemiBold"/>
                <a:sym typeface="Maven Pro SemiBold"/>
              </a:rPr>
              <a:t>Conclusion</a:t>
            </a:r>
            <a:endParaRPr sz="3600">
              <a:solidFill>
                <a:schemeClr val="dk1"/>
              </a:solidFill>
              <a:latin typeface="Maven Pro SemiBold"/>
              <a:ea typeface="Maven Pro SemiBold"/>
              <a:cs typeface="Maven Pro SemiBold"/>
              <a:sym typeface="Maven Pro SemiBold"/>
            </a:endParaRPr>
          </a:p>
        </p:txBody>
      </p:sp>
      <p:sp>
        <p:nvSpPr>
          <p:cNvPr id="185" name="Google Shape;185;p14"/>
          <p:cNvSpPr txBox="1"/>
          <p:nvPr/>
        </p:nvSpPr>
        <p:spPr>
          <a:xfrm>
            <a:off x="124200" y="87977"/>
            <a:ext cx="60819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chemeClr val="dk1"/>
                </a:solidFill>
                <a:latin typeface="Inter"/>
                <a:ea typeface="Inter"/>
                <a:cs typeface="Inter"/>
                <a:sym typeface="Inter"/>
              </a:rPr>
              <a:t>Conclusion</a:t>
            </a:r>
            <a:endParaRPr sz="1000" b="1" i="0" u="none" strike="noStrike" cap="none">
              <a:solidFill>
                <a:schemeClr val="dk1"/>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5"/>
          <p:cNvSpPr txBox="1">
            <a:spLocks noGrp="1"/>
          </p:cNvSpPr>
          <p:nvPr>
            <p:ph type="body" idx="1"/>
          </p:nvPr>
        </p:nvSpPr>
        <p:spPr>
          <a:xfrm>
            <a:off x="311700" y="1492925"/>
            <a:ext cx="8296500" cy="3252000"/>
          </a:xfrm>
          <a:prstGeom prst="rect">
            <a:avLst/>
          </a:prstGeom>
          <a:noFill/>
          <a:ln>
            <a:noFill/>
          </a:ln>
        </p:spPr>
        <p:txBody>
          <a:bodyPr spcFirstLastPara="1" wrap="square" lIns="91425" tIns="91425" rIns="91425" bIns="91425" anchor="t" anchorCtr="0">
            <a:noAutofit/>
          </a:bodyPr>
          <a:lstStyle/>
          <a:p>
            <a:pPr marL="457200" lvl="0" indent="-336550" algn="just" rtl="0">
              <a:spcBef>
                <a:spcPts val="1000"/>
              </a:spcBef>
              <a:spcAft>
                <a:spcPts val="0"/>
              </a:spcAft>
              <a:buClr>
                <a:schemeClr val="dk1"/>
              </a:buClr>
              <a:buSzPts val="1700"/>
              <a:buFont typeface="Inter"/>
              <a:buChar char="-"/>
            </a:pPr>
            <a:r>
              <a:rPr lang="en" sz="1700" b="1">
                <a:solidFill>
                  <a:schemeClr val="dk1"/>
                </a:solidFill>
                <a:latin typeface="Inter"/>
                <a:ea typeface="Inter"/>
                <a:cs typeface="Inter"/>
                <a:sym typeface="Inter"/>
              </a:rPr>
              <a:t>Perokok </a:t>
            </a:r>
            <a:r>
              <a:rPr lang="en" sz="1700">
                <a:solidFill>
                  <a:schemeClr val="dk1"/>
                </a:solidFill>
                <a:latin typeface="Inter"/>
                <a:ea typeface="Inter"/>
                <a:cs typeface="Inter"/>
                <a:sym typeface="Inter"/>
              </a:rPr>
              <a:t>adalah </a:t>
            </a:r>
            <a:r>
              <a:rPr lang="en" sz="1700" b="1">
                <a:solidFill>
                  <a:schemeClr val="dk1"/>
                </a:solidFill>
                <a:latin typeface="Inter"/>
                <a:ea typeface="Inter"/>
                <a:cs typeface="Inter"/>
                <a:sym typeface="Inter"/>
              </a:rPr>
              <a:t>faktor paling dominan</a:t>
            </a:r>
            <a:r>
              <a:rPr lang="en" sz="1700">
                <a:solidFill>
                  <a:schemeClr val="dk1"/>
                </a:solidFill>
                <a:latin typeface="Inter"/>
                <a:ea typeface="Inter"/>
                <a:cs typeface="Inter"/>
                <a:sym typeface="Inter"/>
              </a:rPr>
              <a:t> dalam menentukan biaya asuransi kesehatan, diikuti oleh usia dan kombinasi BMI dengan status merokok. </a:t>
            </a:r>
            <a:endParaRPr sz="1700">
              <a:solidFill>
                <a:schemeClr val="dk1"/>
              </a:solidFill>
              <a:latin typeface="Inter"/>
              <a:ea typeface="Inter"/>
              <a:cs typeface="Inter"/>
              <a:sym typeface="Inter"/>
            </a:endParaRPr>
          </a:p>
          <a:p>
            <a:pPr marL="457200" lvl="0" indent="-336550" algn="just" rtl="0">
              <a:spcBef>
                <a:spcPts val="0"/>
              </a:spcBef>
              <a:spcAft>
                <a:spcPts val="0"/>
              </a:spcAft>
              <a:buClr>
                <a:schemeClr val="dk1"/>
              </a:buClr>
              <a:buSzPts val="1700"/>
              <a:buFont typeface="Inter"/>
              <a:buChar char="-"/>
            </a:pPr>
            <a:r>
              <a:rPr lang="en" sz="1700" b="1">
                <a:solidFill>
                  <a:schemeClr val="dk1"/>
                </a:solidFill>
                <a:latin typeface="Inter"/>
                <a:ea typeface="Inter"/>
                <a:cs typeface="Inter"/>
                <a:sym typeface="Inter"/>
              </a:rPr>
              <a:t>Model Gradient Boosting</a:t>
            </a:r>
            <a:r>
              <a:rPr lang="en" sz="1700">
                <a:solidFill>
                  <a:schemeClr val="dk1"/>
                </a:solidFill>
                <a:latin typeface="Inter"/>
                <a:ea typeface="Inter"/>
                <a:cs typeface="Inter"/>
                <a:sym typeface="Inter"/>
              </a:rPr>
              <a:t> yang kami kembangkan berhasil memprediksi biaya asuransi dengan akurasi </a:t>
            </a:r>
            <a:r>
              <a:rPr lang="en" sz="1700" b="1">
                <a:solidFill>
                  <a:schemeClr val="dk1"/>
                </a:solidFill>
                <a:latin typeface="Inter"/>
                <a:ea typeface="Inter"/>
                <a:cs typeface="Inter"/>
                <a:sym typeface="Inter"/>
              </a:rPr>
              <a:t>74.69%</a:t>
            </a:r>
            <a:endParaRPr sz="1700" b="1">
              <a:solidFill>
                <a:schemeClr val="dk1"/>
              </a:solidFill>
              <a:latin typeface="Inter"/>
              <a:ea typeface="Inter"/>
              <a:cs typeface="Inter"/>
              <a:sym typeface="Inter"/>
            </a:endParaRPr>
          </a:p>
          <a:p>
            <a:pPr marL="457200" lvl="0" indent="-336550" algn="just" rtl="0">
              <a:spcBef>
                <a:spcPts val="0"/>
              </a:spcBef>
              <a:spcAft>
                <a:spcPts val="0"/>
              </a:spcAft>
              <a:buClr>
                <a:schemeClr val="dk1"/>
              </a:buClr>
              <a:buSzPts val="1700"/>
              <a:buFont typeface="Inter"/>
              <a:buChar char="-"/>
            </a:pPr>
            <a:r>
              <a:rPr lang="en" sz="1700" b="1">
                <a:solidFill>
                  <a:schemeClr val="dk1"/>
                </a:solidFill>
                <a:latin typeface="Inter"/>
                <a:ea typeface="Inter"/>
                <a:cs typeface="Inter"/>
                <a:sym typeface="Inter"/>
              </a:rPr>
              <a:t>Tren menarik</a:t>
            </a:r>
            <a:r>
              <a:rPr lang="en" sz="1700">
                <a:solidFill>
                  <a:schemeClr val="dk1"/>
                </a:solidFill>
                <a:latin typeface="Inter"/>
                <a:ea typeface="Inter"/>
                <a:cs typeface="Inter"/>
                <a:sym typeface="Inter"/>
              </a:rPr>
              <a:t>: Perokok membayar biaya hampir 4 kali lipat lebih tinggi daripada non-perokok, namun pengaruh BMI terhadap biaya hanya signifikan pada perokok dengan BMI di atas 30. Ini menunjukkan adanya efek compound antara kebiasaan merokok dan obesitas yang harus menjadi perhatian utama dalam penentuan risiko.</a:t>
            </a:r>
            <a:endParaRPr sz="1700">
              <a:solidFill>
                <a:schemeClr val="dk1"/>
              </a:solidFill>
              <a:latin typeface="Inter"/>
              <a:ea typeface="Inter"/>
              <a:cs typeface="Inter"/>
              <a:sym typeface="Inter"/>
            </a:endParaRPr>
          </a:p>
        </p:txBody>
      </p:sp>
      <p:sp>
        <p:nvSpPr>
          <p:cNvPr id="191" name="Google Shape;191;p15"/>
          <p:cNvSpPr txBox="1">
            <a:spLocks noGrp="1"/>
          </p:cNvSpPr>
          <p:nvPr>
            <p:ph type="title"/>
          </p:nvPr>
        </p:nvSpPr>
        <p:spPr>
          <a:xfrm>
            <a:off x="311700" y="673625"/>
            <a:ext cx="8480400" cy="8193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990"/>
              <a:buNone/>
            </a:pPr>
            <a:r>
              <a:rPr lang="en" sz="2820">
                <a:latin typeface="Maven Pro SemiBold"/>
                <a:ea typeface="Maven Pro SemiBold"/>
                <a:cs typeface="Maven Pro SemiBold"/>
                <a:sym typeface="Maven Pro SemiBold"/>
              </a:rPr>
              <a:t>Conclusion</a:t>
            </a:r>
            <a:endParaRPr sz="2820">
              <a:solidFill>
                <a:schemeClr val="dk1"/>
              </a:solidFill>
              <a:latin typeface="Maven Pro SemiBold"/>
              <a:ea typeface="Maven Pro SemiBold"/>
              <a:cs typeface="Maven Pro SemiBold"/>
              <a:sym typeface="Maven Pro SemiBold"/>
            </a:endParaRPr>
          </a:p>
        </p:txBody>
      </p:sp>
      <p:sp>
        <p:nvSpPr>
          <p:cNvPr id="192" name="Google Shape;192;p15"/>
          <p:cNvSpPr txBox="1"/>
          <p:nvPr/>
        </p:nvSpPr>
        <p:spPr>
          <a:xfrm>
            <a:off x="76197" y="87997"/>
            <a:ext cx="60819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000" b="1" i="0" u="none" strike="noStrike" cap="none">
                <a:solidFill>
                  <a:schemeClr val="dk1"/>
                </a:solidFill>
                <a:latin typeface="Inter"/>
                <a:ea typeface="Inter"/>
                <a:cs typeface="Inter"/>
                <a:sym typeface="Inter"/>
              </a:rPr>
              <a:t>Conclusion</a:t>
            </a:r>
            <a:endParaRPr sz="1000" b="1" i="0" u="none" strike="noStrike" cap="none">
              <a:solidFill>
                <a:schemeClr val="dk1"/>
              </a:solidFill>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g3ad0efc87e0_0_37"/>
          <p:cNvSpPr txBox="1">
            <a:spLocks noGrp="1"/>
          </p:cNvSpPr>
          <p:nvPr>
            <p:ph type="body" idx="1"/>
          </p:nvPr>
        </p:nvSpPr>
        <p:spPr>
          <a:xfrm>
            <a:off x="373025" y="1278300"/>
            <a:ext cx="8189400" cy="3420600"/>
          </a:xfrm>
          <a:prstGeom prst="rect">
            <a:avLst/>
          </a:prstGeom>
          <a:noFill/>
          <a:ln>
            <a:noFill/>
          </a:ln>
        </p:spPr>
        <p:txBody>
          <a:bodyPr spcFirstLastPara="1" wrap="square" lIns="91425" tIns="91425" rIns="91425" bIns="91425" anchor="t" anchorCtr="0">
            <a:noAutofit/>
          </a:bodyPr>
          <a:lstStyle/>
          <a:p>
            <a:pPr marL="0" lvl="0" indent="0" algn="just" rtl="0">
              <a:spcBef>
                <a:spcPts val="1000"/>
              </a:spcBef>
              <a:spcAft>
                <a:spcPts val="0"/>
              </a:spcAft>
              <a:buSzPts val="1100"/>
              <a:buNone/>
            </a:pPr>
            <a:r>
              <a:rPr lang="en" sz="1500">
                <a:solidFill>
                  <a:schemeClr val="dk1"/>
                </a:solidFill>
                <a:latin typeface="Inter"/>
                <a:ea typeface="Inter"/>
                <a:cs typeface="Inter"/>
                <a:sym typeface="Inter"/>
              </a:rPr>
              <a:t>Bagi calon nasabah, kami merekomendasikan untuk:</a:t>
            </a:r>
            <a:endParaRPr sz="1500">
              <a:solidFill>
                <a:schemeClr val="dk1"/>
              </a:solidFill>
              <a:latin typeface="Inter"/>
              <a:ea typeface="Inter"/>
              <a:cs typeface="Inter"/>
              <a:sym typeface="Inter"/>
            </a:endParaRPr>
          </a:p>
          <a:p>
            <a:pPr marL="457200" lvl="0" indent="-323850" algn="just" rtl="0">
              <a:spcBef>
                <a:spcPts val="1000"/>
              </a:spcBef>
              <a:spcAft>
                <a:spcPts val="0"/>
              </a:spcAft>
              <a:buClr>
                <a:schemeClr val="dk1"/>
              </a:buClr>
              <a:buSzPts val="1500"/>
              <a:buFont typeface="Inter"/>
              <a:buChar char="-"/>
            </a:pPr>
            <a:r>
              <a:rPr lang="en" sz="1500" b="1">
                <a:solidFill>
                  <a:schemeClr val="dk1"/>
                </a:solidFill>
                <a:latin typeface="Inter"/>
                <a:ea typeface="Inter"/>
                <a:cs typeface="Inter"/>
                <a:sym typeface="Inter"/>
              </a:rPr>
              <a:t>Mempertimbangkan berhenti merokok</a:t>
            </a:r>
            <a:r>
              <a:rPr lang="en" sz="1500">
                <a:solidFill>
                  <a:schemeClr val="dk1"/>
                </a:solidFill>
                <a:latin typeface="Inter"/>
                <a:ea typeface="Inter"/>
                <a:cs typeface="Inter"/>
                <a:sym typeface="Inter"/>
              </a:rPr>
              <a:t> karena dapat menghemat puluhan juta rupiah biaya premi per tahun, serta membeli asuransi sejak usia muda untuk mendapatkan harga yang lebih terjangkau. </a:t>
            </a:r>
            <a:endParaRPr sz="1500">
              <a:solidFill>
                <a:schemeClr val="dk1"/>
              </a:solidFill>
              <a:latin typeface="Inter"/>
              <a:ea typeface="Inter"/>
              <a:cs typeface="Inter"/>
              <a:sym typeface="Inter"/>
            </a:endParaRPr>
          </a:p>
          <a:p>
            <a:pPr marL="457200" lvl="0" indent="-323850" algn="just" rtl="0">
              <a:spcBef>
                <a:spcPts val="0"/>
              </a:spcBef>
              <a:spcAft>
                <a:spcPts val="0"/>
              </a:spcAft>
              <a:buClr>
                <a:schemeClr val="dk1"/>
              </a:buClr>
              <a:buSzPts val="1500"/>
              <a:buFont typeface="Inter"/>
              <a:buChar char="-"/>
            </a:pPr>
            <a:r>
              <a:rPr lang="en" sz="1500">
                <a:solidFill>
                  <a:schemeClr val="dk1"/>
                </a:solidFill>
                <a:latin typeface="Inter"/>
                <a:ea typeface="Inter"/>
                <a:cs typeface="Inter"/>
                <a:sym typeface="Inter"/>
              </a:rPr>
              <a:t>Perusahaan asuransi dapat menggunakan </a:t>
            </a:r>
            <a:r>
              <a:rPr lang="en" sz="1500" b="1">
                <a:solidFill>
                  <a:schemeClr val="dk1"/>
                </a:solidFill>
                <a:latin typeface="Inter"/>
                <a:ea typeface="Inter"/>
                <a:cs typeface="Inter"/>
                <a:sym typeface="Inter"/>
              </a:rPr>
              <a:t>model prediksi</a:t>
            </a:r>
            <a:r>
              <a:rPr lang="en" sz="1500">
                <a:solidFill>
                  <a:schemeClr val="dk1"/>
                </a:solidFill>
                <a:latin typeface="Inter"/>
                <a:ea typeface="Inter"/>
                <a:cs typeface="Inter"/>
                <a:sym typeface="Inter"/>
              </a:rPr>
              <a:t> kami untuk implementasi pricing yang dinamis, sambil menawarkan program insentif bagi nasabah yang berhasil menjalani gaya hidup sehat.</a:t>
            </a:r>
            <a:endParaRPr sz="1500">
              <a:solidFill>
                <a:schemeClr val="dk1"/>
              </a:solidFill>
              <a:latin typeface="Inter"/>
              <a:ea typeface="Inter"/>
              <a:cs typeface="Inter"/>
              <a:sym typeface="Inter"/>
            </a:endParaRPr>
          </a:p>
          <a:p>
            <a:pPr marL="457200" lvl="0" indent="-323850" algn="just" rtl="0">
              <a:spcBef>
                <a:spcPts val="0"/>
              </a:spcBef>
              <a:spcAft>
                <a:spcPts val="0"/>
              </a:spcAft>
              <a:buClr>
                <a:schemeClr val="dk1"/>
              </a:buClr>
              <a:buSzPts val="1500"/>
              <a:buFont typeface="Inter"/>
              <a:buChar char="-"/>
            </a:pPr>
            <a:r>
              <a:rPr lang="en" sz="1500">
                <a:solidFill>
                  <a:schemeClr val="dk1"/>
                </a:solidFill>
                <a:latin typeface="Inter"/>
                <a:ea typeface="Inter"/>
                <a:cs typeface="Inter"/>
                <a:sym typeface="Inter"/>
              </a:rPr>
              <a:t>Model kami juga dapat dikembangkan menjadi </a:t>
            </a:r>
            <a:r>
              <a:rPr lang="en" sz="1500" b="1">
                <a:solidFill>
                  <a:schemeClr val="dk1"/>
                </a:solidFill>
                <a:latin typeface="Inter"/>
                <a:ea typeface="Inter"/>
                <a:cs typeface="Inter"/>
                <a:sym typeface="Inter"/>
              </a:rPr>
              <a:t>web calculator</a:t>
            </a:r>
            <a:r>
              <a:rPr lang="en" sz="1500">
                <a:solidFill>
                  <a:schemeClr val="dk1"/>
                </a:solidFill>
                <a:latin typeface="Inter"/>
                <a:ea typeface="Inter"/>
                <a:cs typeface="Inter"/>
                <a:sym typeface="Inter"/>
              </a:rPr>
              <a:t> untuk membantu calon nasabah melakukan </a:t>
            </a:r>
            <a:r>
              <a:rPr lang="en" sz="1500" b="1">
                <a:solidFill>
                  <a:schemeClr val="dk1"/>
                </a:solidFill>
                <a:latin typeface="Inter"/>
                <a:ea typeface="Inter"/>
                <a:cs typeface="Inter"/>
                <a:sym typeface="Inter"/>
              </a:rPr>
              <a:t>estimasi biaya asuransi</a:t>
            </a:r>
            <a:r>
              <a:rPr lang="en" sz="1500">
                <a:solidFill>
                  <a:schemeClr val="dk1"/>
                </a:solidFill>
                <a:latin typeface="Inter"/>
                <a:ea typeface="Inter"/>
                <a:cs typeface="Inter"/>
                <a:sym typeface="Inter"/>
              </a:rPr>
              <a:t> secara transparan, serta menjadi dasar untuk pengembangan produk asuransi yang lebih tersegmentasi sesuai profil risiko masing-masing nasabah.</a:t>
            </a:r>
            <a:endParaRPr sz="1500">
              <a:solidFill>
                <a:schemeClr val="dk1"/>
              </a:solidFill>
              <a:latin typeface="Inter"/>
              <a:ea typeface="Inter"/>
              <a:cs typeface="Inter"/>
              <a:sym typeface="Inter"/>
            </a:endParaRPr>
          </a:p>
          <a:p>
            <a:pPr marL="0" lvl="0" indent="0" algn="just" rtl="0">
              <a:spcBef>
                <a:spcPts val="1000"/>
              </a:spcBef>
              <a:spcAft>
                <a:spcPts val="0"/>
              </a:spcAft>
              <a:buClr>
                <a:schemeClr val="dk1"/>
              </a:buClr>
              <a:buSzPts val="1800"/>
              <a:buFont typeface="Arial"/>
              <a:buNone/>
            </a:pPr>
            <a:endParaRPr sz="1500">
              <a:solidFill>
                <a:schemeClr val="dk1"/>
              </a:solidFill>
              <a:latin typeface="Inter"/>
              <a:ea typeface="Inter"/>
              <a:cs typeface="Inter"/>
              <a:sym typeface="Inter"/>
            </a:endParaRPr>
          </a:p>
          <a:p>
            <a:pPr marL="0" lvl="0" indent="0" algn="just" rtl="0">
              <a:spcBef>
                <a:spcPts val="1000"/>
              </a:spcBef>
              <a:spcAft>
                <a:spcPts val="1000"/>
              </a:spcAft>
              <a:buSzPts val="1100"/>
              <a:buNone/>
            </a:pPr>
            <a:endParaRPr sz="1500">
              <a:solidFill>
                <a:schemeClr val="dk1"/>
              </a:solidFill>
              <a:latin typeface="Inter"/>
              <a:ea typeface="Inter"/>
              <a:cs typeface="Inter"/>
              <a:sym typeface="Inter"/>
            </a:endParaRPr>
          </a:p>
        </p:txBody>
      </p:sp>
      <p:sp>
        <p:nvSpPr>
          <p:cNvPr id="198" name="Google Shape;198;g3ad0efc87e0_0_37"/>
          <p:cNvSpPr txBox="1">
            <a:spLocks noGrp="1"/>
          </p:cNvSpPr>
          <p:nvPr>
            <p:ph type="title"/>
          </p:nvPr>
        </p:nvSpPr>
        <p:spPr>
          <a:xfrm>
            <a:off x="331800" y="390000"/>
            <a:ext cx="8480400" cy="8193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990"/>
              <a:buNone/>
            </a:pPr>
            <a:r>
              <a:rPr lang="en" sz="2820">
                <a:latin typeface="Maven Pro SemiBold"/>
                <a:ea typeface="Maven Pro SemiBold"/>
                <a:cs typeface="Maven Pro SemiBold"/>
                <a:sym typeface="Maven Pro SemiBold"/>
              </a:rPr>
              <a:t>Conclusion</a:t>
            </a:r>
            <a:endParaRPr sz="2820">
              <a:solidFill>
                <a:schemeClr val="dk1"/>
              </a:solidFill>
              <a:latin typeface="Maven Pro SemiBold"/>
              <a:ea typeface="Maven Pro SemiBold"/>
              <a:cs typeface="Maven Pro SemiBold"/>
              <a:sym typeface="Maven Pro SemiBold"/>
            </a:endParaRPr>
          </a:p>
        </p:txBody>
      </p:sp>
      <p:sp>
        <p:nvSpPr>
          <p:cNvPr id="199" name="Google Shape;199;g3ad0efc87e0_0_37"/>
          <p:cNvSpPr txBox="1"/>
          <p:nvPr/>
        </p:nvSpPr>
        <p:spPr>
          <a:xfrm>
            <a:off x="76197" y="87997"/>
            <a:ext cx="60819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000" b="1" i="0" u="none" strike="noStrike" cap="none">
                <a:solidFill>
                  <a:schemeClr val="dk1"/>
                </a:solidFill>
                <a:latin typeface="Inter"/>
                <a:ea typeface="Inter"/>
                <a:cs typeface="Inter"/>
                <a:sym typeface="Inter"/>
              </a:rPr>
              <a:t>Conclusion</a:t>
            </a:r>
            <a:endParaRPr sz="1000" b="1" i="0" u="none" strike="noStrike" cap="none">
              <a:solidFill>
                <a:schemeClr val="dk1"/>
              </a:solidFill>
              <a:latin typeface="Inter"/>
              <a:ea typeface="Inter"/>
              <a:cs typeface="Inter"/>
              <a:sym typeface="Inte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6"/>
          <p:cNvSpPr txBox="1">
            <a:spLocks noGrp="1"/>
          </p:cNvSpPr>
          <p:nvPr>
            <p:ph type="title"/>
          </p:nvPr>
        </p:nvSpPr>
        <p:spPr>
          <a:xfrm>
            <a:off x="2514600" y="1162650"/>
            <a:ext cx="4114800" cy="26445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SzPts val="4800"/>
              <a:buNone/>
            </a:pPr>
            <a:r>
              <a:rPr lang="en">
                <a:solidFill>
                  <a:schemeClr val="dk1"/>
                </a:solidFill>
                <a:latin typeface="Maven Pro SemiBold"/>
                <a:ea typeface="Maven Pro SemiBold"/>
                <a:cs typeface="Maven Pro SemiBold"/>
                <a:sym typeface="Maven Pro SemiBold"/>
              </a:rPr>
              <a:t>Terima kasih!</a:t>
            </a:r>
            <a:endParaRPr>
              <a:solidFill>
                <a:schemeClr val="dk1"/>
              </a:solidFill>
              <a:latin typeface="Maven Pro SemiBold"/>
              <a:ea typeface="Maven Pro SemiBold"/>
              <a:cs typeface="Maven Pro SemiBold"/>
              <a:sym typeface="Maven Pro SemiBold"/>
            </a:endParaRPr>
          </a:p>
          <a:p>
            <a:pPr marL="0" lvl="0" indent="0" algn="ctr" rtl="0">
              <a:lnSpc>
                <a:spcPct val="115000"/>
              </a:lnSpc>
              <a:spcBef>
                <a:spcPts val="0"/>
              </a:spcBef>
              <a:spcAft>
                <a:spcPts val="0"/>
              </a:spcAft>
              <a:buSzPts val="4800"/>
              <a:buNone/>
            </a:pPr>
            <a:r>
              <a:rPr lang="en" sz="2800">
                <a:solidFill>
                  <a:schemeClr val="dk1"/>
                </a:solidFill>
                <a:latin typeface="Maven Pro SemiBold"/>
                <a:ea typeface="Maven Pro SemiBold"/>
                <a:cs typeface="Maven Pro SemiBold"/>
                <a:sym typeface="Maven Pro SemiBold"/>
              </a:rPr>
              <a:t>Ada pertanyaan?</a:t>
            </a:r>
            <a:endParaRPr sz="2800">
              <a:solidFill>
                <a:schemeClr val="dk1"/>
              </a:solidFill>
              <a:latin typeface="Maven Pro SemiBold"/>
              <a:ea typeface="Maven Pro SemiBold"/>
              <a:cs typeface="Maven Pro SemiBold"/>
              <a:sym typeface="Maven Pro SemiBo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883</Words>
  <Application>Microsoft Office PowerPoint</Application>
  <PresentationFormat>On-screen Show (16:9)</PresentationFormat>
  <Paragraphs>119</Paragraphs>
  <Slides>21</Slides>
  <Notes>21</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Inter SemiBold</vt:lpstr>
      <vt:lpstr>Arial</vt:lpstr>
      <vt:lpstr>Inter Medium</vt:lpstr>
      <vt:lpstr>Maven Pro SemiBold</vt:lpstr>
      <vt:lpstr>Inter</vt:lpstr>
      <vt:lpstr>Times New Roman</vt:lpstr>
      <vt:lpstr>Simple Light</vt:lpstr>
      <vt:lpstr>Final Project Presentation</vt:lpstr>
      <vt:lpstr>Petunjuk</vt:lpstr>
      <vt:lpstr>Latar Belakang Explorasi Data dan Visualisasi Modelling Kesimpulan</vt:lpstr>
      <vt:lpstr>Latar Belakang</vt:lpstr>
      <vt:lpstr>Latar Belakang Project</vt:lpstr>
      <vt:lpstr>Explorasi Data dan Visualisasi</vt:lpstr>
      <vt:lpstr>Business Understanding</vt:lpstr>
      <vt:lpstr>Data Cleansing</vt:lpstr>
      <vt:lpstr>Data Cleansing</vt:lpstr>
      <vt:lpstr>Exploratory Data Analysis</vt:lpstr>
      <vt:lpstr>Modelling</vt:lpstr>
      <vt:lpstr>Modelling</vt:lpstr>
      <vt:lpstr>Modelling</vt:lpstr>
      <vt:lpstr>Modelling</vt:lpstr>
      <vt:lpstr>Modelling</vt:lpstr>
      <vt:lpstr>Modelling</vt:lpstr>
      <vt:lpstr>Modelling</vt:lpstr>
      <vt:lpstr>Conclusion</vt:lpstr>
      <vt:lpstr>Conclusion</vt:lpstr>
      <vt:lpstr>Conclusion</vt:lpstr>
      <vt:lpstr>Terima kasih! Ada pertanyaan?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Lenovo LOQ</cp:lastModifiedBy>
  <cp:revision>1</cp:revision>
  <dcterms:modified xsi:type="dcterms:W3CDTF">2025-12-04T03:53:03Z</dcterms:modified>
</cp:coreProperties>
</file>